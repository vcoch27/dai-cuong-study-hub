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04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24" r:id="rId14"/>
    <p:sldId id="318" r:id="rId15"/>
    <p:sldId id="325" r:id="rId16"/>
    <p:sldId id="319" r:id="rId17"/>
    <p:sldId id="320" r:id="rId18"/>
    <p:sldId id="321" r:id="rId19"/>
    <p:sldId id="322" r:id="rId20"/>
    <p:sldId id="32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59" autoAdjust="0"/>
    <p:restoredTop sz="89747"/>
  </p:normalViewPr>
  <p:slideViewPr>
    <p:cSldViewPr snapToGrid="0">
      <p:cViewPr varScale="1">
        <p:scale>
          <a:sx n="58" d="100"/>
          <a:sy n="58" d="100"/>
        </p:scale>
        <p:origin x="656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3" d="100"/>
          <a:sy n="53" d="100"/>
        </p:scale>
        <p:origin x="1986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390029-2981-48AB-BCDE-E7B99F69AC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E13EAA-E463-473E-8FA5-416C0BEB43B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73E5DD-FE26-4A43-9FC2-607ACF25AE17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2E6E36-07C1-47E7-BC3C-45180E8E82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453305-BBEE-4DEA-9540-C6AC9C870C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5794F4-726C-4777-8F27-19A841922A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891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2EB55-B567-2D4C-B847-F70BF368BAE2}" type="datetimeFigureOut">
              <a:rPr lang="x-none" smtClean="0"/>
              <a:t>1/26/2026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67767-766C-FF4A-8F17-25D8402747F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30804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67767-766C-FF4A-8F17-25D8402747FE}" type="slidenum">
              <a:rPr lang="x-none" smtClean="0"/>
              <a:t>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29250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9E262-AC4C-4B7A-ADC6-6007ED918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2112F4-D35C-410B-91EC-4FE6F7195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9324D-0446-4F16-A839-924D8A2BF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54977-E08A-F047-B9A4-96BB2876FE7A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3E383-08A0-4BDF-80F9-577BE7404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EA5BC-C7FE-4425-A443-77275EF64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491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4980-BF35-4A49-8D81-AECE263785E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95748-6D0C-4A53-BC50-FC1E202E0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07337-B443-4BD0-825C-61BF83FC3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8D3B-C041-D345-B852-EBDD35A0CDF9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36922-3BFD-4B83-93D2-3A49A46E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08070-017C-4F44-BFFD-FC98AD5AE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450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81804-498D-4E69-AD37-B628C2FB9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426D9-177C-42CA-B5AA-189C9CD42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EABB9-4F57-4FAF-B7E5-86EB16420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367B-55C7-D442-AE09-C8367E30978A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093DB-344E-4593-9A83-11B6874F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BE9DB-5A83-447B-B009-31608127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477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E839-DE65-4CAB-B3CE-B6787730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086A7-4BC5-4570-AE26-D8AA1652F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88F1F-9CC7-4106-8C68-BF579089D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88B53-A651-4336-B770-344B1E201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EA2B-7E3B-3B47-8BCF-32328E684FC6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CF91C-C248-4A8B-A893-7F52D55A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278CD-1478-4D00-B646-CC9F4D61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692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B7060-DFDF-4549-B5F1-5947FAE2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F5FE2-55FC-44E0-9092-5B8857066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35F6A-63D9-4832-80CC-384284522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BF4741-D763-4DC6-B7E9-6EB3D9A4C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DA4651-74F8-47BD-B89F-4F9C08501A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A191C2-CE7E-48BF-97CF-289362B6C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53C5A-607A-5A4B-AF70-505EBF7DC59B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DC2448-1BCA-4E45-939A-A3528F1F3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8526AD-4B2F-4F99-9EED-6B6199E3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008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6D6A-5EDF-4047-9E54-4728D1508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855F7-40C2-4B53-87CF-0DB6BBE3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F784-253D-B648-8E48-70B093E81C4D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A971A-6A7E-47DC-9043-B082EA5AF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2227C2-5BF9-4B9A-84BC-BFF9DA421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339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B45176-22FF-4961-8952-A67A54CB0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B58A-2C6E-4A45-9DC6-6BBD59CECD5D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15661-A99E-49FD-BA38-7F2677358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59D72-3A2F-495E-8B2C-3A7EEEE14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77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E4A89-3D7B-42B4-9E6E-F3149D8D7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C0B0C-FF1F-413C-92E3-F557F43BD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98F7E-248C-4F47-AC0E-AAE1C7610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552F0-2AC8-4BCB-9F52-0BBC85EFB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68E8-D6EE-0D44-8F38-DB52A9F37FF2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74349-E594-4DF3-B059-2B4269B18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33C74-FB69-48DA-B2A7-F8BD6DF19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131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69F0D-C54A-4FDC-B3DC-DAD517F4C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6B7E17-F590-46EA-B1D1-F719E9727B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1D0057-40C6-42C4-BDAC-F64C3D26E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F7D14-3148-4C96-95A6-EDADD311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B974-810E-5348-BF8B-8BC7BF2D3C52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E2927-EBDB-4128-8B13-B2D4DDFC8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23B5A-4E7E-4DB2-AFC0-3F36C12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549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63F9-EA5C-486C-A37E-D7713527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467F49-C68D-462B-87CB-8F67E37CA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95383-E7C3-4CB5-80AA-C610D683E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B2D7-D800-674A-B364-511F3631DE4B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59819-1C43-48D9-B06D-128C5DD60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24824-5F31-4078-9A59-E89EDEBFC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81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D09853-61E0-4390-8E9F-80EC16364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01FD2A-5714-4A54-AC83-4D08E66B3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34179-3DE8-484B-BB9C-6FB8FF4BE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3314-96EC-3C4F-9EED-E697FF5FE31D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F180E-CEC1-4CC3-88B7-9723E5DFD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EB187-43D3-484D-8653-C7F383719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80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EDDC8-ED0E-42EA-81CC-C9B6D0A26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89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9F308-4027-4851-80A5-ABE205ADC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1F55B-C12D-4D57-996A-0274816C1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2470D-C782-9243-A888-6ED3A50C53F3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C42E5-BC5E-4CE5-B510-5F3E77AF2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3D7B0-FAB5-4C79-BEC0-D607420B6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9372" y="-20370"/>
            <a:ext cx="108517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3"/>
          <p:cNvPicPr>
            <a:picLocks noChangeAspect="1" noChangeArrowheads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" t="1875" r="79744" b="81688"/>
          <a:stretch/>
        </p:blipFill>
        <p:spPr bwMode="auto">
          <a:xfrm>
            <a:off x="10488705" y="-20370"/>
            <a:ext cx="802443" cy="487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19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../L&#253;%20lu&#7853;n%20v&#7873;%20th&#7901;i%20k&#7923;%20qu&#225;%20&#273;&#7897;.pptx" TargetMode="External"/><Relationship Id="rId2" Type="http://schemas.openxmlformats.org/officeDocument/2006/relationships/hyperlink" Target="../B&#224;i%20gi&#7843;ng%20m&#244;n%20CNXHKH%202018/XH%20XHCN/L&#7899;p%20d&#432;%20ngu&#244;n%20CC/&#272;i&#7873;u%20ki&#7879;n%20&#273;i%20l&#234;n%20CNXH.pptx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1</a:t>
            </a:fld>
            <a:endParaRPr lang="en-US" dirty="0"/>
          </a:p>
        </p:txBody>
      </p:sp>
      <p:pic>
        <p:nvPicPr>
          <p:cNvPr id="4198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" t="1875" r="15080" b="79167"/>
          <a:stretch/>
        </p:blipFill>
        <p:spPr bwMode="auto">
          <a:xfrm>
            <a:off x="609600" y="-15241"/>
            <a:ext cx="11033760" cy="1472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karlMarx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977978"/>
            <a:ext cx="6096000" cy="3880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5" descr="十月革命 副本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0" y="2977978"/>
            <a:ext cx="6096000" cy="3880022"/>
          </a:xfrm>
          <a:prstGeom prst="rect">
            <a:avLst/>
          </a:prstGeom>
          <a:noFill/>
          <a:ln w="38100">
            <a:solidFill>
              <a:srgbClr val="993300"/>
            </a:solidFill>
            <a:miter lim="800000"/>
            <a:headEnd/>
            <a:tailEnd/>
          </a:ln>
        </p:spPr>
      </p:pic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411523" y="912055"/>
            <a:ext cx="9144000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0" latinLnBrk="0" hangingPunct="0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00FF00"/>
                </a:solidFill>
                <a:latin typeface=".VnArial" panose="020B7200000000000000" pitchFamily="34" charset="0"/>
                <a:ea typeface="+mj-ea"/>
                <a:cs typeface="+mj-cs"/>
              </a:defRPr>
            </a:lvl1pPr>
            <a:lvl2pPr marL="742950" indent="-285750" eaLnBrk="0" hangingPunct="0">
              <a:defRPr sz="2400">
                <a:solidFill>
                  <a:srgbClr val="00FF00"/>
                </a:solidFill>
                <a:latin typeface=".VnArial" panose="020B7200000000000000" pitchFamily="34" charset="0"/>
              </a:defRPr>
            </a:lvl2pPr>
            <a:lvl3pPr marL="1143000" indent="-228600" eaLnBrk="0" hangingPunct="0">
              <a:defRPr sz="2400">
                <a:solidFill>
                  <a:srgbClr val="00FF00"/>
                </a:solidFill>
                <a:latin typeface=".VnArial" panose="020B7200000000000000" pitchFamily="34" charset="0"/>
              </a:defRPr>
            </a:lvl3pPr>
            <a:lvl4pPr marL="1600200" indent="-228600" eaLnBrk="0" hangingPunct="0">
              <a:defRPr sz="2400">
                <a:solidFill>
                  <a:srgbClr val="00FF00"/>
                </a:solidFill>
                <a:latin typeface=".VnArial" panose="020B7200000000000000" pitchFamily="34" charset="0"/>
              </a:defRPr>
            </a:lvl4pPr>
            <a:lvl5pPr marL="2057400" indent="-228600" eaLnBrk="0" hangingPunct="0">
              <a:defRPr sz="2400">
                <a:solidFill>
                  <a:srgbClr val="00FF00"/>
                </a:solidFill>
                <a:latin typeface=".VnArial" panose="020B7200000000000000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FF00"/>
                </a:solidFill>
                <a:latin typeface=".VnArial" panose="020B7200000000000000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FF00"/>
                </a:solidFill>
                <a:latin typeface=".VnArial" panose="020B7200000000000000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FF00"/>
                </a:solidFill>
                <a:latin typeface=".VnArial" panose="020B7200000000000000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FF00"/>
                </a:solidFill>
                <a:latin typeface=".VnArial" panose="020B7200000000000000" pitchFamily="34" charset="0"/>
              </a:defRPr>
            </a:lvl9pPr>
          </a:lstStyle>
          <a:p>
            <a:pPr algn="ctr" eaLnBrk="1" hangingPunct="1">
              <a:spcBef>
                <a:spcPts val="1200"/>
              </a:spcBef>
            </a:pPr>
            <a:r>
              <a:rPr lang="en-US" altLang="en-US" sz="4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 NGHĨA XÃ HỘI KHOA HỌC</a:t>
            </a:r>
          </a:p>
        </p:txBody>
      </p:sp>
    </p:spTree>
    <p:extLst>
      <p:ext uri="{BB962C8B-B14F-4D97-AF65-F5344CB8AC3E}">
        <p14:creationId xmlns:p14="http://schemas.microsoft.com/office/powerpoint/2010/main" val="151433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8" name="Rectangle 9"/>
          <p:cNvSpPr>
            <a:spLocks noGrp="1" noChangeArrowheads="1"/>
          </p:cNvSpPr>
          <p:nvPr>
            <p:ph idx="1"/>
          </p:nvPr>
        </p:nvSpPr>
        <p:spPr>
          <a:xfrm>
            <a:off x="823783" y="557613"/>
            <a:ext cx="10420865" cy="4267200"/>
          </a:xfrm>
        </p:spPr>
        <p:txBody>
          <a:bodyPr rtlCol="0">
            <a:normAutofit/>
          </a:bodyPr>
          <a:lstStyle/>
          <a:p>
            <a:pPr algn="ctr">
              <a:buNone/>
              <a:defRPr/>
            </a:pPr>
            <a:endParaRPr lang="en-US" altLang="en-US" sz="2400" dirty="0">
              <a:solidFill>
                <a:srgbClr val="0000CC"/>
              </a:solidFill>
              <a:latin typeface=".VnVogueH" pitchFamily="34" charset="0"/>
            </a:endParaRPr>
          </a:p>
          <a:p>
            <a:pPr algn="ctr">
              <a:buNone/>
              <a:defRPr/>
            </a:pPr>
            <a:r>
              <a:rPr lang="en-US" altLang="en-US" sz="3600" b="1" i="1" dirty="0" err="1">
                <a:solidFill>
                  <a:srgbClr val="0000CC"/>
                </a:solidFill>
              </a:rPr>
              <a:t>Chương</a:t>
            </a:r>
            <a:r>
              <a:rPr lang="en-US" altLang="en-US" sz="3600" b="1" i="1" dirty="0">
                <a:solidFill>
                  <a:srgbClr val="0000CC"/>
                </a:solidFill>
              </a:rPr>
              <a:t> 3 </a:t>
            </a:r>
            <a:endParaRPr lang="en-US" altLang="en-US" sz="2400" b="1" i="1" dirty="0">
              <a:solidFill>
                <a:srgbClr val="0000CC"/>
              </a:solidFill>
            </a:endParaRPr>
          </a:p>
          <a:p>
            <a:pPr marL="0" indent="0" algn="ctr">
              <a:lnSpc>
                <a:spcPts val="3600"/>
              </a:lnSpc>
              <a:spcBef>
                <a:spcPts val="600"/>
              </a:spcBef>
              <a:buNone/>
              <a:defRPr/>
            </a:pP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4300"/>
              </a:lnSpc>
              <a:spcBef>
                <a:spcPts val="600"/>
              </a:spcBef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 NGHĨA XÃ HỘI VÀ </a:t>
            </a:r>
          </a:p>
          <a:p>
            <a:pPr marL="0" indent="0" algn="ctr">
              <a:lnSpc>
                <a:spcPts val="4300"/>
              </a:lnSpc>
              <a:spcBef>
                <a:spcPts val="600"/>
              </a:spcBef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 KỲ QUÁ ĐỘ LÊN CHỦ NGHĨA XÃ HỘI</a:t>
            </a:r>
          </a:p>
          <a:p>
            <a:pPr marL="0" indent="0" algn="ctr">
              <a:lnSpc>
                <a:spcPts val="4200"/>
              </a:lnSpc>
              <a:spcBef>
                <a:spcPts val="1200"/>
              </a:spcBef>
              <a:buNone/>
              <a:defRPr/>
            </a:pPr>
            <a:endParaRPr lang="en-US" altLang="en-US" b="1" i="1" dirty="0">
              <a:solidFill>
                <a:srgbClr val="0000CC"/>
              </a:solidFill>
            </a:endParaRPr>
          </a:p>
        </p:txBody>
      </p:sp>
      <p:sp>
        <p:nvSpPr>
          <p:cNvPr id="1638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48F8B3F-0073-42A4-A630-62A50AE90B97}" type="slidenum">
              <a:rPr lang="en-US">
                <a:solidFill>
                  <a:srgbClr val="898989"/>
                </a:solidFill>
              </a:rPr>
              <a:pPr eaLnBrk="1" hangingPunct="1"/>
              <a:t>2</a:t>
            </a:fld>
            <a:endParaRPr lang="en-US">
              <a:solidFill>
                <a:srgbClr val="898989"/>
              </a:solidFill>
            </a:endParaRPr>
          </a:p>
        </p:txBody>
      </p:sp>
      <p:sp>
        <p:nvSpPr>
          <p:cNvPr id="16389" name="Text Box 6"/>
          <p:cNvSpPr txBox="1">
            <a:spLocks noChangeArrowheads="1"/>
          </p:cNvSpPr>
          <p:nvPr/>
        </p:nvSpPr>
        <p:spPr bwMode="auto">
          <a:xfrm>
            <a:off x="3505200" y="0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>
              <a:solidFill>
                <a:srgbClr val="00FF00"/>
              </a:solidFill>
              <a:latin typeface=".VnArial" panose="020B72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07162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FD95FD1-B816-4D0A-BD0E-900CA406DE27}" type="slidenum">
              <a:rPr lang="en-US">
                <a:latin typeface=".VnTime" panose="020B7200000000000000" pitchFamily="34" charset="0"/>
              </a:rPr>
              <a:pPr eaLnBrk="1" hangingPunct="1"/>
              <a:t>3</a:t>
            </a:fld>
            <a:endParaRPr lang="en-US">
              <a:latin typeface=".VnTime" panose="020B7200000000000000" pitchFamily="34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762000"/>
            <a:ext cx="8229600" cy="1143000"/>
          </a:xfrm>
        </p:spPr>
        <p:txBody>
          <a:bodyPr/>
          <a:lstStyle/>
          <a:p>
            <a:pPr algn="ctr" eaLnBrk="1" hangingPunct="1"/>
            <a:r>
              <a:rPr lang="en-US" sz="3600" b="1" dirty="0">
                <a:latin typeface="Time New Roman"/>
                <a:cs typeface="Arial" panose="020B0604020202020204" pitchFamily="34" charset="0"/>
              </a:rPr>
              <a:t>NỘI DUNG 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9090" y="2133601"/>
            <a:ext cx="9764110" cy="4525963"/>
          </a:xfrm>
        </p:spPr>
        <p:txBody>
          <a:bodyPr/>
          <a:lstStyle/>
          <a:p>
            <a:pPr marL="0" indent="0" algn="just">
              <a:lnSpc>
                <a:spcPts val="4600"/>
              </a:lnSpc>
              <a:buNone/>
              <a:defRPr/>
            </a:pPr>
            <a:r>
              <a:rPr lang="en-US" sz="3400" b="1" dirty="0">
                <a:solidFill>
                  <a:srgbClr val="002060"/>
                </a:solidFill>
                <a:latin typeface="Time New Roman"/>
                <a:cs typeface="Times New Roman" pitchFamily="18" charset="0"/>
              </a:rPr>
              <a:t>3.1. </a:t>
            </a:r>
            <a:r>
              <a:rPr lang="en-US" sz="3400" b="1" dirty="0" err="1">
                <a:solidFill>
                  <a:srgbClr val="002060"/>
                </a:solidFill>
                <a:latin typeface="Time New Roman"/>
                <a:cs typeface="Times New Roman" pitchFamily="18" charset="0"/>
              </a:rPr>
              <a:t>Chủ</a:t>
            </a:r>
            <a:r>
              <a:rPr lang="en-US" sz="3400" b="1" dirty="0">
                <a:solidFill>
                  <a:srgbClr val="002060"/>
                </a:solidFill>
                <a:latin typeface="Time New Roman"/>
                <a:cs typeface="Times New Roman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Time New Roman"/>
                <a:cs typeface="Times New Roman" pitchFamily="18" charset="0"/>
              </a:rPr>
              <a:t>nghĩa</a:t>
            </a:r>
            <a:r>
              <a:rPr lang="en-US" sz="3400" b="1" dirty="0">
                <a:solidFill>
                  <a:srgbClr val="002060"/>
                </a:solidFill>
                <a:latin typeface="Time New Roman"/>
                <a:cs typeface="Times New Roman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Time New Roman"/>
                <a:cs typeface="Times New Roman" pitchFamily="18" charset="0"/>
              </a:rPr>
              <a:t>xã</a:t>
            </a:r>
            <a:r>
              <a:rPr lang="en-US" sz="3400" b="1" dirty="0">
                <a:solidFill>
                  <a:srgbClr val="002060"/>
                </a:solidFill>
                <a:latin typeface="Time New Roman"/>
                <a:cs typeface="Times New Roman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Time New Roman"/>
                <a:cs typeface="Times New Roman" pitchFamily="18" charset="0"/>
              </a:rPr>
              <a:t>hội</a:t>
            </a:r>
            <a:endParaRPr lang="en-US" sz="3400" b="1" dirty="0">
              <a:solidFill>
                <a:srgbClr val="002060"/>
              </a:solidFill>
              <a:latin typeface="Time New Roman"/>
              <a:cs typeface="Times New Roman" pitchFamily="18" charset="0"/>
            </a:endParaRPr>
          </a:p>
          <a:p>
            <a:pPr marL="0" indent="0" algn="just">
              <a:lnSpc>
                <a:spcPts val="4600"/>
              </a:lnSpc>
              <a:buNone/>
              <a:defRPr/>
            </a:pPr>
            <a:r>
              <a:rPr lang="en-US" sz="3400" b="1" dirty="0">
                <a:solidFill>
                  <a:srgbClr val="002060"/>
                </a:solidFill>
                <a:latin typeface="Time New Roman"/>
                <a:cs typeface="Times New Roman" pitchFamily="18" charset="0"/>
              </a:rPr>
              <a:t>3.2. </a:t>
            </a:r>
            <a:r>
              <a:rPr lang="vi-VN" sz="3400" b="1" dirty="0">
                <a:solidFill>
                  <a:srgbClr val="002060"/>
                </a:solidFill>
                <a:latin typeface="Time New Roman"/>
                <a:cs typeface="Times New Roman" pitchFamily="18" charset="0"/>
              </a:rPr>
              <a:t>Thời kỳ quá độ lên chủ nghĩa xã hội</a:t>
            </a:r>
            <a:endParaRPr lang="en-US" sz="3400" b="1" dirty="0">
              <a:solidFill>
                <a:srgbClr val="002060"/>
              </a:solidFill>
              <a:latin typeface="Time New Roman"/>
              <a:cs typeface="Times New Roman" pitchFamily="18" charset="0"/>
            </a:endParaRPr>
          </a:p>
          <a:p>
            <a:pPr marL="0" indent="0" algn="just">
              <a:lnSpc>
                <a:spcPts val="4600"/>
              </a:lnSpc>
              <a:buNone/>
              <a:defRPr/>
            </a:pPr>
            <a:r>
              <a:rPr lang="en-US" sz="3400" b="1" dirty="0">
                <a:solidFill>
                  <a:srgbClr val="002060"/>
                </a:solidFill>
                <a:latin typeface="Time New Roman"/>
                <a:cs typeface="Times New Roman" pitchFamily="18" charset="0"/>
              </a:rPr>
              <a:t>3.3. </a:t>
            </a:r>
            <a:r>
              <a:rPr lang="vi-VN" sz="3400" b="1" dirty="0">
                <a:solidFill>
                  <a:srgbClr val="002060"/>
                </a:solidFill>
                <a:latin typeface="Time New Roman"/>
                <a:cs typeface="Times New Roman" pitchFamily="18" charset="0"/>
              </a:rPr>
              <a:t>Quá độ lên </a:t>
            </a:r>
            <a:r>
              <a:rPr lang="en-US" sz="3400" b="1" dirty="0">
                <a:solidFill>
                  <a:srgbClr val="002060"/>
                </a:solidFill>
                <a:latin typeface="Time New Roman"/>
                <a:cs typeface="Times New Roman" pitchFamily="18" charset="0"/>
              </a:rPr>
              <a:t>CNXH</a:t>
            </a:r>
            <a:r>
              <a:rPr lang="vi-VN" sz="3400" b="1" dirty="0">
                <a:solidFill>
                  <a:srgbClr val="002060"/>
                </a:solidFill>
                <a:latin typeface="Time New Roman"/>
                <a:cs typeface="Times New Roman" pitchFamily="18" charset="0"/>
              </a:rPr>
              <a:t> ở Việt Nam</a:t>
            </a:r>
            <a:endParaRPr lang="en-US" sz="3400" b="1" dirty="0">
              <a:solidFill>
                <a:srgbClr val="002060"/>
              </a:solidFill>
              <a:latin typeface="Time New Roman"/>
              <a:cs typeface="Times New Roman" pitchFamily="18" charset="0"/>
            </a:endParaRPr>
          </a:p>
          <a:p>
            <a:pPr eaLnBrk="1" hangingPunct="1">
              <a:buFontTx/>
              <a:buNone/>
              <a:defRPr/>
            </a:pPr>
            <a:endParaRPr lang="en-US" sz="4000" b="1" dirty="0">
              <a:latin typeface="Time New Roman"/>
              <a:cs typeface="Arial" pitchFamily="34" charset="0"/>
            </a:endParaRPr>
          </a:p>
          <a:p>
            <a:pPr marL="609600" indent="-609600">
              <a:buNone/>
              <a:defRPr/>
            </a:pPr>
            <a:endParaRPr lang="en-US" sz="3600" dirty="0">
              <a:latin typeface="Time New Roman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11476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9BA0EF9-5EC2-47FE-A174-2221F84035B9}" type="slidenum">
              <a:rPr lang="en-US">
                <a:latin typeface=".VnTime" panose="020B7200000000000000" pitchFamily="34" charset="0"/>
              </a:rPr>
              <a:pPr eaLnBrk="1" hangingPunct="1"/>
              <a:t>4</a:t>
            </a:fld>
            <a:endParaRPr lang="en-US">
              <a:latin typeface=".VnTime" panose="020B7200000000000000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0" y="2438400"/>
            <a:ext cx="6400800" cy="3657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981200" y="762000"/>
            <a:ext cx="830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rgbClr val="FF0000"/>
                </a:solidFill>
                <a:cs typeface="Arial" panose="020B0604020202020204" pitchFamily="34" charset="0"/>
              </a:rPr>
              <a:t>3.1. CHỦ NGHĨA XÃ HỘI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279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9BA0EF9-5EC2-47FE-A174-2221F84035B9}" type="slidenum">
              <a:rPr lang="en-US">
                <a:latin typeface=".VnTime" panose="020B7200000000000000" pitchFamily="34" charset="0"/>
              </a:rPr>
              <a:pPr eaLnBrk="1" hangingPunct="1"/>
              <a:t>5</a:t>
            </a:fld>
            <a:endParaRPr lang="en-US">
              <a:latin typeface=".VnTime" panose="020B7200000000000000" pitchFamily="34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2159875" y="441434"/>
            <a:ext cx="9506607" cy="1143000"/>
          </a:xfrm>
        </p:spPr>
        <p:txBody>
          <a:bodyPr/>
          <a:lstStyle/>
          <a:p>
            <a:pPr algn="ctr" eaLnBrk="1" hangingPunct="1"/>
            <a:r>
              <a:rPr lang="en-US" sz="3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3.1.1. </a:t>
            </a:r>
            <a:r>
              <a:rPr lang="vi-VN" sz="3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NXH</a:t>
            </a:r>
            <a:r>
              <a:rPr lang="vi-VN" sz="3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giai đoạn đầu của hình thái </a:t>
            </a:r>
            <a:br>
              <a:rPr lang="en-US" sz="3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KT</a:t>
            </a:r>
            <a:r>
              <a:rPr lang="vi-VN" sz="3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3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XH </a:t>
            </a:r>
            <a:r>
              <a:rPr lang="en-US" sz="3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sz="3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3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sz="3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endParaRPr lang="en-US" sz="3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590800"/>
            <a:ext cx="8382000" cy="4267200"/>
          </a:xfrm>
        </p:spPr>
        <p:txBody>
          <a:bodyPr/>
          <a:lstStyle/>
          <a:p>
            <a:pPr algn="just">
              <a:lnSpc>
                <a:spcPct val="130000"/>
              </a:lnSpc>
              <a:spcBef>
                <a:spcPts val="600"/>
              </a:spcBef>
              <a:buNone/>
              <a:defRPr/>
            </a:pPr>
            <a:r>
              <a:rPr lang="en-US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a) </a:t>
            </a:r>
            <a:r>
              <a:rPr lang="en-US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kỳ</a:t>
            </a:r>
            <a:r>
              <a:rPr lang="en-US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hình</a:t>
            </a:r>
            <a:r>
              <a:rPr lang="en-US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thái</a:t>
            </a:r>
            <a:r>
              <a:rPr lang="en-US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KT – XH. CSCN: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  <a:buNone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   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Giai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đoạn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thấp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(TKQĐ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CNCS)</a:t>
            </a:r>
          </a:p>
          <a:p>
            <a:pPr marL="742950" indent="-742950">
              <a:lnSpc>
                <a:spcPct val="130000"/>
              </a:lnSpc>
              <a:spcBef>
                <a:spcPts val="600"/>
              </a:spcBef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+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Giai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đoạn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cao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(XH. CSCN)</a:t>
            </a:r>
          </a:p>
          <a:p>
            <a:pPr algn="just" eaLnBrk="1" hangingPunct="1">
              <a:buFontTx/>
              <a:buNone/>
              <a:defRPr/>
            </a:pPr>
            <a:endParaRPr lang="en-US" i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881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Line 3"/>
          <p:cNvSpPr>
            <a:spLocks noChangeShapeType="1"/>
          </p:cNvSpPr>
          <p:nvPr/>
        </p:nvSpPr>
        <p:spPr bwMode="auto">
          <a:xfrm>
            <a:off x="2525713" y="3154363"/>
            <a:ext cx="7696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0" name="Line 4"/>
          <p:cNvSpPr>
            <a:spLocks noChangeShapeType="1"/>
          </p:cNvSpPr>
          <p:nvPr/>
        </p:nvSpPr>
        <p:spPr bwMode="auto">
          <a:xfrm>
            <a:off x="1839913" y="3154363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1" name="Line 5"/>
          <p:cNvSpPr>
            <a:spLocks noChangeShapeType="1"/>
          </p:cNvSpPr>
          <p:nvPr/>
        </p:nvSpPr>
        <p:spPr bwMode="auto">
          <a:xfrm>
            <a:off x="2525713" y="2949575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2" name="Line 6"/>
          <p:cNvSpPr>
            <a:spLocks noChangeShapeType="1"/>
          </p:cNvSpPr>
          <p:nvPr/>
        </p:nvSpPr>
        <p:spPr bwMode="auto">
          <a:xfrm>
            <a:off x="4760913" y="269875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 flipV="1">
            <a:off x="7996238" y="277495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5" name="Text Box 9"/>
          <p:cNvSpPr txBox="1">
            <a:spLocks noChangeArrowheads="1"/>
          </p:cNvSpPr>
          <p:nvPr/>
        </p:nvSpPr>
        <p:spPr bwMode="auto">
          <a:xfrm>
            <a:off x="1939925" y="1449388"/>
            <a:ext cx="2971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   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 New Roman"/>
                <a:cs typeface="Arial" charset="0"/>
              </a:rPr>
              <a:t>H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 New Roman"/>
                <a:cs typeface="Arial" charset="0"/>
              </a:rPr>
              <a:t>ì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 New Roman"/>
                <a:cs typeface="Arial" charset="0"/>
              </a:rPr>
              <a:t>nh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/>
                <a:cs typeface="Arial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 New Roman"/>
                <a:cs typeface="Arial" charset="0"/>
              </a:rPr>
              <a:t>thái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/>
                <a:cs typeface="Arial" charset="0"/>
              </a:rPr>
              <a:t> KT-XH TBCN</a:t>
            </a:r>
            <a:endParaRPr 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.VnTime"/>
              <a:cs typeface="Arial" charset="0"/>
            </a:endParaRPr>
          </a:p>
        </p:txBody>
      </p:sp>
      <p:sp>
        <p:nvSpPr>
          <p:cNvPr id="116746" name="Text Box 10"/>
          <p:cNvSpPr txBox="1">
            <a:spLocks noChangeArrowheads="1"/>
          </p:cNvSpPr>
          <p:nvPr/>
        </p:nvSpPr>
        <p:spPr bwMode="auto">
          <a:xfrm>
            <a:off x="5410200" y="1449388"/>
            <a:ext cx="4114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H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 New Roman"/>
                <a:cs typeface="Arial" charset="0"/>
              </a:rPr>
              <a:t>ì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nh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th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 New Roman"/>
                <a:cs typeface="Arial" charset="0"/>
              </a:rPr>
              <a:t>á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 KT-XH CSCN</a:t>
            </a:r>
          </a:p>
        </p:txBody>
      </p:sp>
      <p:sp>
        <p:nvSpPr>
          <p:cNvPr id="116747" name="Line 11"/>
          <p:cNvSpPr>
            <a:spLocks noChangeShapeType="1"/>
          </p:cNvSpPr>
          <p:nvPr/>
        </p:nvSpPr>
        <p:spPr bwMode="auto">
          <a:xfrm flipV="1">
            <a:off x="4779963" y="27749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8" name="Line 12"/>
          <p:cNvSpPr>
            <a:spLocks noChangeShapeType="1"/>
          </p:cNvSpPr>
          <p:nvPr/>
        </p:nvSpPr>
        <p:spPr bwMode="auto">
          <a:xfrm flipV="1">
            <a:off x="8001000" y="22050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9" name="Line 13"/>
          <p:cNvSpPr>
            <a:spLocks noChangeShapeType="1"/>
          </p:cNvSpPr>
          <p:nvPr/>
        </p:nvSpPr>
        <p:spPr bwMode="auto">
          <a:xfrm>
            <a:off x="4724400" y="288925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2" name="Text Box 14"/>
          <p:cNvSpPr txBox="1">
            <a:spLocks noChangeArrowheads="1"/>
          </p:cNvSpPr>
          <p:nvPr/>
        </p:nvSpPr>
        <p:spPr bwMode="auto">
          <a:xfrm>
            <a:off x="5013326" y="2735263"/>
            <a:ext cx="2606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800">
              <a:latin typeface=".VnTime" panose="020B7200000000000000" pitchFamily="34" charset="0"/>
            </a:endParaRPr>
          </a:p>
        </p:txBody>
      </p:sp>
      <p:sp>
        <p:nvSpPr>
          <p:cNvPr id="116751" name="Text Box 15"/>
          <p:cNvSpPr txBox="1">
            <a:spLocks noChangeArrowheads="1"/>
          </p:cNvSpPr>
          <p:nvPr/>
        </p:nvSpPr>
        <p:spPr bwMode="auto">
          <a:xfrm>
            <a:off x="4678363" y="2098675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.VnTime" panose="020B7200000000000000" pitchFamily="34" charset="0"/>
              </a:rPr>
              <a:t>  </a:t>
            </a:r>
            <a:r>
              <a:rPr lang="en-US" altLang="en-US" sz="2400" b="1">
                <a:solidFill>
                  <a:srgbClr val="002060"/>
                </a:solidFill>
                <a:latin typeface="Time New Roman"/>
              </a:rPr>
              <a:t>Giai đoạn thấp</a:t>
            </a:r>
          </a:p>
        </p:txBody>
      </p:sp>
      <p:sp>
        <p:nvSpPr>
          <p:cNvPr id="116752" name="Text Box 16"/>
          <p:cNvSpPr txBox="1">
            <a:spLocks noChangeArrowheads="1"/>
          </p:cNvSpPr>
          <p:nvPr/>
        </p:nvSpPr>
        <p:spPr bwMode="auto">
          <a:xfrm>
            <a:off x="7912100" y="2020888"/>
            <a:ext cx="28194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2400">
                <a:latin typeface=".VnTime" panose="020B7200000000000000" pitchFamily="34" charset="0"/>
              </a:rPr>
              <a:t> </a:t>
            </a:r>
            <a:r>
              <a:rPr lang="en-US" altLang="en-US" sz="2400" b="1">
                <a:solidFill>
                  <a:srgbClr val="002060"/>
                </a:solidFill>
                <a:latin typeface="Time New Roman"/>
              </a:rPr>
              <a:t>Giai đoạn cao (CNCS)</a:t>
            </a:r>
          </a:p>
        </p:txBody>
      </p:sp>
      <p:sp>
        <p:nvSpPr>
          <p:cNvPr id="116753" name="Line 17"/>
          <p:cNvSpPr>
            <a:spLocks noChangeShapeType="1"/>
          </p:cNvSpPr>
          <p:nvPr/>
        </p:nvSpPr>
        <p:spPr bwMode="auto">
          <a:xfrm flipV="1">
            <a:off x="8070850" y="2879726"/>
            <a:ext cx="2133600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54" name="Text Box 18"/>
          <p:cNvSpPr txBox="1">
            <a:spLocks noChangeArrowheads="1"/>
          </p:cNvSpPr>
          <p:nvPr/>
        </p:nvSpPr>
        <p:spPr bwMode="auto">
          <a:xfrm>
            <a:off x="4038600" y="3379789"/>
            <a:ext cx="6096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2800">
                <a:latin typeface=".VnTime" panose="020B7200000000000000" pitchFamily="34" charset="0"/>
              </a:rPr>
              <a:t> </a:t>
            </a:r>
            <a:r>
              <a:rPr lang="en-US" altLang="en-US" sz="2400">
                <a:latin typeface=".VnTime" panose="020B7200000000000000" pitchFamily="34" charset="0"/>
              </a:rPr>
              <a:t> </a:t>
            </a:r>
            <a:r>
              <a:rPr lang="en-US" altLang="en-US" sz="2400" b="1">
                <a:solidFill>
                  <a:srgbClr val="002060"/>
                </a:solidFill>
                <a:latin typeface="Time New Roman"/>
              </a:rPr>
              <a:t>Giai đoạn thấp = TKQĐ lên CNCS</a:t>
            </a:r>
          </a:p>
        </p:txBody>
      </p:sp>
      <p:sp>
        <p:nvSpPr>
          <p:cNvPr id="116755" name="Text Box 19"/>
          <p:cNvSpPr txBox="1">
            <a:spLocks noChangeArrowheads="1"/>
          </p:cNvSpPr>
          <p:nvPr/>
        </p:nvSpPr>
        <p:spPr bwMode="auto">
          <a:xfrm>
            <a:off x="10058400" y="2895601"/>
            <a:ext cx="30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>
                <a:latin typeface=".VnTime" panose="020B7200000000000000" pitchFamily="34" charset="0"/>
              </a:rPr>
              <a:t>t</a:t>
            </a:r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1981200" y="384175"/>
            <a:ext cx="7772400" cy="533400"/>
          </a:xfrm>
          <a:prstGeom prst="rect">
            <a:avLst/>
          </a:prstGeom>
        </p:spPr>
        <p:txBody>
          <a:bodyPr bIns="91440" anchor="b">
            <a:normAutofit fontScale="97500" lnSpcReduction="10000"/>
          </a:bodyPr>
          <a:lstStyle/>
          <a:p>
            <a:pPr algn="ctr">
              <a:defRPr/>
            </a:pPr>
            <a:r>
              <a:rPr lang="en-US" sz="2800" b="1" dirty="0" err="1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Hai</a:t>
            </a: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giai</a:t>
            </a: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đoạn</a:t>
            </a: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của</a:t>
            </a: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hình</a:t>
            </a: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thái</a:t>
            </a: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kinh</a:t>
            </a: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tế</a:t>
            </a: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- </a:t>
            </a:r>
            <a:r>
              <a:rPr lang="en-US" sz="2800" b="1" dirty="0" err="1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xã</a:t>
            </a: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hội</a:t>
            </a: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CSCN</a:t>
            </a:r>
            <a:endParaRPr lang="en-US" sz="2500" b="1" dirty="0">
              <a:solidFill>
                <a:srgbClr val="7030A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949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6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6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6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67" dur="2000"/>
                                        <p:tgtEl>
                                          <p:spTgt spid="116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3" grpId="0" animBg="1"/>
      <p:bldP spid="116745" grpId="0"/>
      <p:bldP spid="116746" grpId="0"/>
      <p:bldP spid="116747" grpId="0" animBg="1"/>
      <p:bldP spid="116748" grpId="0" animBg="1"/>
      <p:bldP spid="116749" grpId="0" animBg="1"/>
      <p:bldP spid="116751" grpId="0"/>
      <p:bldP spid="116752" grpId="0"/>
      <p:bldP spid="116753" grpId="0" animBg="1"/>
      <p:bldP spid="116754" grpId="0"/>
      <p:bldP spid="1167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5DC5463-22F9-4A98-B9CD-020EC89FE13D}" type="slidenum">
              <a:rPr lang="en-US">
                <a:latin typeface=".VnTime" panose="020B7200000000000000" pitchFamily="34" charset="0"/>
              </a:rPr>
              <a:pPr eaLnBrk="1" hangingPunct="1"/>
              <a:t>7</a:t>
            </a:fld>
            <a:endParaRPr lang="en-US">
              <a:latin typeface=".VnTime" panose="020B7200000000000000" pitchFamily="34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2238703" y="469307"/>
            <a:ext cx="8458200" cy="1143000"/>
          </a:xfrm>
        </p:spPr>
        <p:txBody>
          <a:bodyPr/>
          <a:lstStyle/>
          <a:p>
            <a:pPr eaLnBrk="1" hangingPunct="1"/>
            <a:r>
              <a:rPr lang="en-US" sz="30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3.1.2. </a:t>
            </a:r>
            <a:r>
              <a:rPr lang="vi-VN" sz="30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Điều kiện ra đời chủ nghĩa xã hội</a:t>
            </a:r>
            <a:endParaRPr lang="en-US" sz="3000" b="1" dirty="0">
              <a:solidFill>
                <a:srgbClr val="FF0000"/>
              </a:solidFill>
              <a:latin typeface="Time New Roman"/>
              <a:cs typeface="Arial" panose="020B0604020202020204" pitchFamily="34" charset="0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1076" y="1828800"/>
            <a:ext cx="10830910" cy="4267200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itchFamily="2" charset="2"/>
              <a:buChar char="§"/>
              <a:defRPr/>
            </a:pP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LLSX &gt;&lt;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</a:rPr>
              <a:t>với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 QHSX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</a:rPr>
              <a:t>trong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</a:rPr>
              <a:t>lòng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 CNTB</a:t>
            </a:r>
          </a:p>
          <a:p>
            <a:pPr algn="just" eaLnBrk="1" hangingPunct="1">
              <a:buFont typeface="Wingdings" pitchFamily="2" charset="2"/>
              <a:buChar char="§"/>
              <a:defRPr/>
            </a:pP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GCCN &gt;&lt;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</a:rPr>
              <a:t>với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 GCTS</a:t>
            </a:r>
          </a:p>
          <a:p>
            <a:pPr algn="just" eaLnBrk="1" hangingPunct="1">
              <a:buFont typeface="Wingdings" pitchFamily="2" charset="2"/>
              <a:buChar char="Ø"/>
              <a:defRPr/>
            </a:pP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</a:rPr>
              <a:t>Cuộc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</a:rPr>
              <a:t>cách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</a:rPr>
              <a:t>mạng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 XHCN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</a:rPr>
              <a:t>của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 GCCN</a:t>
            </a:r>
          </a:p>
          <a:p>
            <a:pPr algn="just" eaLnBrk="1" hangingPunct="1">
              <a:buFontTx/>
              <a:buChar char="-"/>
              <a:defRPr/>
            </a:pP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GCCN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</a:rPr>
              <a:t>giành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</a:rPr>
              <a:t>chính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</a:rPr>
              <a:t>quyền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,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</a:rPr>
              <a:t>thiết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</a:rPr>
              <a:t>lập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</a:rPr>
              <a:t>chuyên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</a:rPr>
              <a:t>chính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</a:rPr>
              <a:t>vô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</a:rPr>
              <a:t>sản</a:t>
            </a:r>
            <a:endParaRPr lang="en-US" sz="3000" dirty="0">
              <a:solidFill>
                <a:srgbClr val="002060"/>
              </a:solidFill>
              <a:latin typeface="Time New Roman"/>
              <a:cs typeface="Arial" pitchFamily="34" charset="0"/>
            </a:endParaRPr>
          </a:p>
          <a:p>
            <a:pPr algn="just" eaLnBrk="1" hangingPunct="1">
              <a:buFontTx/>
              <a:buNone/>
              <a:defRPr/>
            </a:pP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  <a:sym typeface="Wingdings" pitchFamily="2" charset="2"/>
              </a:rPr>
              <a:t>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  <a:sym typeface="Wingdings" pitchFamily="2" charset="2"/>
              </a:rPr>
              <a:t>Cách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  <a:sym typeface="Wingdings" pitchFamily="2" charset="2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  <a:sym typeface="Wingdings" pitchFamily="2" charset="2"/>
              </a:rPr>
              <a:t>thức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  <a:sym typeface="Wingdings" pitchFamily="2" charset="2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  <a:sym typeface="Wingdings" pitchFamily="2" charset="2"/>
              </a:rPr>
              <a:t>giành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  <a:sym typeface="Wingdings" pitchFamily="2" charset="2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  <a:sym typeface="Wingdings" pitchFamily="2" charset="2"/>
              </a:rPr>
              <a:t>chính</a:t>
            </a:r>
            <a:r>
              <a:rPr lang="en-US" sz="3000" dirty="0">
                <a:solidFill>
                  <a:srgbClr val="002060"/>
                </a:solidFill>
                <a:latin typeface="Time New Roman"/>
                <a:cs typeface="Arial" pitchFamily="34" charset="0"/>
                <a:sym typeface="Wingdings" pitchFamily="2" charset="2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Time New Roman"/>
                <a:cs typeface="Arial" pitchFamily="34" charset="0"/>
                <a:sym typeface="Wingdings" pitchFamily="2" charset="2"/>
              </a:rPr>
              <a:t>quyền</a:t>
            </a:r>
            <a:endParaRPr lang="en-US" sz="3000" dirty="0">
              <a:solidFill>
                <a:srgbClr val="002060"/>
              </a:solidFill>
              <a:latin typeface="Time New Roman"/>
              <a:cs typeface="Arial" pitchFamily="34" charset="0"/>
            </a:endParaRPr>
          </a:p>
          <a:p>
            <a:pPr marL="0" indent="0" algn="just">
              <a:buNone/>
              <a:defRPr/>
            </a:pPr>
            <a:endParaRPr lang="en-US" sz="3000" i="1" dirty="0">
              <a:latin typeface="Time New Roman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527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188779" y="457200"/>
            <a:ext cx="8382000" cy="685800"/>
          </a:xfrm>
        </p:spPr>
        <p:txBody>
          <a:bodyPr>
            <a:normAutofit/>
          </a:bodyPr>
          <a:lstStyle/>
          <a:p>
            <a:r>
              <a:rPr lang="en-US" sz="34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3.1.3. </a:t>
            </a:r>
            <a:r>
              <a:rPr lang="en-US" sz="3400" b="1" dirty="0" err="1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Những</a:t>
            </a:r>
            <a:r>
              <a:rPr lang="en-US" sz="34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đặc</a:t>
            </a:r>
            <a:r>
              <a:rPr lang="en-US" sz="34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trưng</a:t>
            </a:r>
            <a:r>
              <a:rPr lang="en-US" sz="34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cơ</a:t>
            </a:r>
            <a:r>
              <a:rPr lang="en-US" sz="34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bản</a:t>
            </a:r>
            <a:r>
              <a:rPr lang="en-US" sz="34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của</a:t>
            </a:r>
            <a:r>
              <a:rPr lang="en-US" sz="34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 CNXH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6840" y="1245475"/>
            <a:ext cx="11256579" cy="5155325"/>
          </a:xfrm>
        </p:spPr>
        <p:txBody>
          <a:bodyPr>
            <a:noAutofit/>
          </a:bodyPr>
          <a:lstStyle/>
          <a:p>
            <a:pPr algn="just">
              <a:lnSpc>
                <a:spcPct val="220000"/>
              </a:lnSpc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1700" b="1" i="1" dirty="0">
                <a:latin typeface="Time New Roman"/>
              </a:rPr>
              <a:t>C</a:t>
            </a:r>
            <a:r>
              <a:rPr lang="vi-VN" sz="1700" b="1" i="1" dirty="0">
                <a:latin typeface="Time New Roman"/>
              </a:rPr>
              <a:t>ơ sở vật chất của </a:t>
            </a:r>
            <a:r>
              <a:rPr lang="en-US" sz="1700" b="1" i="1" dirty="0">
                <a:latin typeface="Time New Roman"/>
              </a:rPr>
              <a:t>CNXH </a:t>
            </a:r>
            <a:r>
              <a:rPr lang="vi-VN" sz="1700" b="1" i="1" dirty="0">
                <a:latin typeface="Time New Roman"/>
              </a:rPr>
              <a:t>phải được tạo ra bởi một nền sản xuất tiên tiến, hiện đại.</a:t>
            </a:r>
            <a:r>
              <a:rPr lang="vi-VN" sz="1700" b="1" dirty="0">
                <a:latin typeface="Time New Roman"/>
              </a:rPr>
              <a:t> </a:t>
            </a:r>
            <a:endParaRPr lang="en-US" sz="1700" b="1" dirty="0">
              <a:latin typeface="Time New Roman"/>
            </a:endParaRPr>
          </a:p>
          <a:p>
            <a:pPr algn="just">
              <a:lnSpc>
                <a:spcPct val="220000"/>
              </a:lnSpc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1700" b="1" i="1" dirty="0">
                <a:latin typeface="Time New Roman"/>
              </a:rPr>
              <a:t>CNXH </a:t>
            </a:r>
            <a:r>
              <a:rPr lang="vi-VN" sz="1700" b="1" i="1" dirty="0">
                <a:latin typeface="Time New Roman"/>
              </a:rPr>
              <a:t>từng bước xóa bỏ chế độ sở hữu </a:t>
            </a:r>
            <a:r>
              <a:rPr lang="en-US" sz="1700" b="1" i="1" dirty="0">
                <a:latin typeface="Time New Roman"/>
              </a:rPr>
              <a:t>TBCN </a:t>
            </a:r>
            <a:r>
              <a:rPr lang="vi-VN" sz="1700" b="1" i="1" dirty="0">
                <a:latin typeface="Time New Roman"/>
              </a:rPr>
              <a:t>đồng thời tiến hành thiết lập chế độ công hữu về các tư liệu sản xuất</a:t>
            </a:r>
            <a:endParaRPr lang="en-US" sz="1700" b="1" i="1" dirty="0">
              <a:latin typeface="Time New Roman"/>
            </a:endParaRPr>
          </a:p>
          <a:p>
            <a:pPr algn="just">
              <a:lnSpc>
                <a:spcPct val="220000"/>
              </a:lnSpc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1700" b="1" i="1" dirty="0">
                <a:latin typeface="Time New Roman"/>
              </a:rPr>
              <a:t>CNXH </a:t>
            </a:r>
            <a:r>
              <a:rPr lang="vi-VN" sz="1700" b="1" i="1" dirty="0">
                <a:latin typeface="Time New Roman"/>
              </a:rPr>
              <a:t>tạo ra cách thức t</a:t>
            </a:r>
            <a:r>
              <a:rPr lang="en-US" sz="1700" b="1" i="1" dirty="0">
                <a:latin typeface="Time New Roman"/>
              </a:rPr>
              <a:t>ổ</a:t>
            </a:r>
            <a:r>
              <a:rPr lang="vi-VN" sz="1700" b="1" i="1" dirty="0">
                <a:latin typeface="Time New Roman"/>
              </a:rPr>
              <a:t> chức lao động và kỷ luật lao động mới với năng suất cao.</a:t>
            </a:r>
            <a:endParaRPr lang="en-US" sz="1700" b="1" i="1" dirty="0">
              <a:latin typeface="Time New Roman"/>
            </a:endParaRPr>
          </a:p>
          <a:p>
            <a:pPr algn="just">
              <a:lnSpc>
                <a:spcPct val="220000"/>
              </a:lnSpc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1700" b="1" i="1" dirty="0">
                <a:latin typeface="Time New Roman"/>
              </a:rPr>
              <a:t>CNXH </a:t>
            </a:r>
            <a:r>
              <a:rPr lang="vi-VN" sz="1700" b="1" i="1" dirty="0">
                <a:latin typeface="Time New Roman"/>
              </a:rPr>
              <a:t>thực hiện nguyên tắc phân phối theo lao động. </a:t>
            </a:r>
            <a:endParaRPr lang="en-US" sz="1700" b="1" i="1" dirty="0">
              <a:latin typeface="Time New Roman"/>
            </a:endParaRPr>
          </a:p>
          <a:p>
            <a:pPr algn="just">
              <a:lnSpc>
                <a:spcPct val="220000"/>
              </a:lnSpc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vi-VN" sz="1700" b="1" i="1" dirty="0">
                <a:latin typeface="Time New Roman"/>
              </a:rPr>
              <a:t>Nhà nước dưới </a:t>
            </a:r>
            <a:r>
              <a:rPr lang="en-US" sz="1700" b="1" i="1" dirty="0">
                <a:latin typeface="Time New Roman"/>
              </a:rPr>
              <a:t>CNXH </a:t>
            </a:r>
            <a:r>
              <a:rPr lang="vi-VN" sz="1700" b="1" i="1" dirty="0">
                <a:latin typeface="Time New Roman"/>
              </a:rPr>
              <a:t>là nhà nước mang bản chất giai cấp công nhân, nhưng cũng đồng thời mang tính nhân dân rộng rãi và tính dân tộc sâu sắc</a:t>
            </a:r>
            <a:endParaRPr lang="en-US" sz="1700" b="1" dirty="0">
              <a:latin typeface="Time New Roman"/>
            </a:endParaRPr>
          </a:p>
          <a:p>
            <a:pPr algn="just">
              <a:lnSpc>
                <a:spcPct val="220000"/>
              </a:lnSpc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vi-VN" sz="1700" b="1" i="1" dirty="0">
                <a:latin typeface="Time New Roman"/>
              </a:rPr>
              <a:t>Mục tiêu cao nhất của </a:t>
            </a:r>
            <a:r>
              <a:rPr lang="en-US" sz="1700" b="1" i="1" dirty="0">
                <a:latin typeface="Time New Roman"/>
              </a:rPr>
              <a:t>CNXH </a:t>
            </a:r>
            <a:r>
              <a:rPr lang="vi-VN" sz="1700" b="1" i="1" dirty="0">
                <a:latin typeface="Time New Roman"/>
              </a:rPr>
              <a:t>giải phóng và phát triển con người toàn diện</a:t>
            </a:r>
            <a:r>
              <a:rPr lang="vi-VN" sz="1700" b="1" i="1" dirty="0"/>
              <a:t>.</a:t>
            </a:r>
            <a:r>
              <a:rPr lang="vi-VN" sz="1700" b="1" dirty="0"/>
              <a:t> </a:t>
            </a:r>
            <a:endParaRPr lang="en-US" sz="1700" b="1" dirty="0">
              <a:latin typeface="Time New Roman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19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F19B00D-B8A0-4B1B-94CD-4BD1A0678F77}" type="slidenum">
              <a:rPr lang="en-US">
                <a:latin typeface=".VnTime" panose="020B7200000000000000" pitchFamily="34" charset="0"/>
              </a:rPr>
              <a:pPr eaLnBrk="1" hangingPunct="1"/>
              <a:t>9</a:t>
            </a:fld>
            <a:endParaRPr lang="en-US">
              <a:latin typeface=".VnTime" panose="020B7200000000000000" pitchFamily="34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82296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3.2. THỜI KỲ QUÁ ĐỘ LÊN CNXH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296" y="1765738"/>
            <a:ext cx="11335407" cy="5486400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en-US" dirty="0">
                <a:latin typeface="Time New Roman"/>
                <a:cs typeface="Arial" panose="020B0604020202020204" pitchFamily="34" charset="0"/>
              </a:rPr>
              <a:t>  </a:t>
            </a:r>
            <a:r>
              <a:rPr lang="en-US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3.</a:t>
            </a:r>
            <a:r>
              <a:rPr lang="vi-VN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2.1. Tính tất yếu </a:t>
            </a:r>
            <a:r>
              <a:rPr lang="en-US" b="1" dirty="0" err="1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khách</a:t>
            </a:r>
            <a:r>
              <a:rPr lang="en-US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quan</a:t>
            </a:r>
            <a:r>
              <a:rPr lang="en-US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vi-VN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của </a:t>
            </a:r>
            <a:r>
              <a:rPr lang="en-US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TKQĐ </a:t>
            </a:r>
            <a:r>
              <a:rPr lang="vi-VN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lên </a:t>
            </a:r>
            <a:r>
              <a:rPr lang="en-US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CNXH</a:t>
            </a:r>
          </a:p>
          <a:p>
            <a:pPr algn="just" eaLnBrk="1" hangingPunct="1">
              <a:buFontTx/>
              <a:buNone/>
            </a:pPr>
            <a:endParaRPr lang="en-US" b="1" dirty="0">
              <a:solidFill>
                <a:srgbClr val="FF0000"/>
              </a:solidFill>
              <a:latin typeface="Time New Roman"/>
              <a:cs typeface="Arial" panose="020B0604020202020204" pitchFamily="34" charset="0"/>
            </a:endParaRPr>
          </a:p>
          <a:p>
            <a:pPr algn="just" eaLnBrk="1" hangingPunct="1">
              <a:buFontTx/>
              <a:buNone/>
            </a:pPr>
            <a:r>
              <a:rPr lang="en-US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  </a:t>
            </a:r>
            <a:r>
              <a:rPr lang="en-US" dirty="0">
                <a:latin typeface="Time New Roman"/>
                <a:cs typeface="Arial" panose="020B0604020202020204" pitchFamily="34" charset="0"/>
              </a:rPr>
              <a:t>    + 2 </a:t>
            </a:r>
            <a:r>
              <a:rPr lang="en-US" dirty="0" err="1">
                <a:latin typeface="Time New Roman"/>
                <a:cs typeface="Arial" panose="020B0604020202020204" pitchFamily="34" charset="0"/>
              </a:rPr>
              <a:t>kiểu</a:t>
            </a:r>
            <a:r>
              <a:rPr lang="en-US" dirty="0">
                <a:latin typeface="Time New Roman"/>
                <a:cs typeface="Arial" panose="020B0604020202020204" pitchFamily="34" charset="0"/>
              </a:rPr>
              <a:t> </a:t>
            </a:r>
            <a:r>
              <a:rPr lang="en-US" dirty="0" err="1">
                <a:latin typeface="Time New Roman"/>
                <a:cs typeface="Arial" panose="020B0604020202020204" pitchFamily="34" charset="0"/>
              </a:rPr>
              <a:t>quá</a:t>
            </a:r>
            <a:r>
              <a:rPr lang="en-US" dirty="0">
                <a:latin typeface="Time New Roman"/>
                <a:cs typeface="Arial" panose="020B0604020202020204" pitchFamily="34" charset="0"/>
              </a:rPr>
              <a:t> </a:t>
            </a:r>
            <a:r>
              <a:rPr lang="en-US" dirty="0" err="1">
                <a:latin typeface="Time New Roman"/>
                <a:cs typeface="Arial" panose="020B0604020202020204" pitchFamily="34" charset="0"/>
              </a:rPr>
              <a:t>độ</a:t>
            </a:r>
            <a:r>
              <a:rPr lang="en-US" dirty="0">
                <a:latin typeface="Time New Roman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Time New Roman"/>
                <a:cs typeface="Arial" panose="020B0604020202020204" pitchFamily="34" charset="0"/>
              </a:rPr>
              <a:t>trực</a:t>
            </a:r>
            <a:r>
              <a:rPr lang="en-US" dirty="0">
                <a:latin typeface="Time New Roman"/>
                <a:cs typeface="Arial" panose="020B0604020202020204" pitchFamily="34" charset="0"/>
              </a:rPr>
              <a:t> </a:t>
            </a:r>
            <a:r>
              <a:rPr lang="en-US" dirty="0" err="1">
                <a:latin typeface="Time New Roman"/>
                <a:cs typeface="Arial" panose="020B0604020202020204" pitchFamily="34" charset="0"/>
              </a:rPr>
              <a:t>tiếp</a:t>
            </a:r>
            <a:r>
              <a:rPr lang="en-US" dirty="0">
                <a:latin typeface="Time New Roman"/>
                <a:cs typeface="Arial" panose="020B0604020202020204" pitchFamily="34" charset="0"/>
              </a:rPr>
              <a:t> &amp; </a:t>
            </a:r>
            <a:r>
              <a:rPr lang="en-US" dirty="0" err="1">
                <a:latin typeface="Time New Roman"/>
                <a:cs typeface="Arial" panose="020B0604020202020204" pitchFamily="34" charset="0"/>
              </a:rPr>
              <a:t>gián</a:t>
            </a:r>
            <a:r>
              <a:rPr lang="en-US" dirty="0">
                <a:latin typeface="Time New Roman"/>
                <a:cs typeface="Arial" panose="020B0604020202020204" pitchFamily="34" charset="0"/>
              </a:rPr>
              <a:t> </a:t>
            </a:r>
            <a:r>
              <a:rPr lang="en-US" dirty="0" err="1">
                <a:latin typeface="Time New Roman"/>
                <a:cs typeface="Arial" panose="020B0604020202020204" pitchFamily="34" charset="0"/>
              </a:rPr>
              <a:t>tiếp</a:t>
            </a:r>
            <a:r>
              <a:rPr lang="en-US" dirty="0">
                <a:latin typeface="Time New Roman"/>
                <a:cs typeface="Arial" panose="020B0604020202020204" pitchFamily="34" charset="0"/>
              </a:rPr>
              <a:t>)</a:t>
            </a:r>
          </a:p>
          <a:p>
            <a:pPr algn="just" eaLnBrk="1" hangingPunct="1">
              <a:buFontTx/>
              <a:buNone/>
            </a:pPr>
            <a:r>
              <a:rPr lang="en-US" i="1" dirty="0">
                <a:latin typeface="Time New Roman"/>
                <a:cs typeface="Arial" panose="020B0604020202020204" pitchFamily="34" charset="0"/>
              </a:rPr>
              <a:t>     </a:t>
            </a:r>
            <a:r>
              <a:rPr lang="en-US" i="1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(</a:t>
            </a:r>
            <a:r>
              <a:rPr lang="en-US" i="1" dirty="0" err="1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Quá</a:t>
            </a:r>
            <a:r>
              <a:rPr lang="en-US" i="1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độ</a:t>
            </a:r>
            <a:r>
              <a:rPr lang="en-US" i="1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trực</a:t>
            </a:r>
            <a:r>
              <a:rPr lang="en-US" i="1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tiếp</a:t>
            </a:r>
            <a:r>
              <a:rPr lang="en-US" i="1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:</a:t>
            </a:r>
            <a:r>
              <a:rPr lang="en-US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vi-VN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từ </a:t>
            </a:r>
            <a:r>
              <a:rPr lang="en-US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CNTB</a:t>
            </a:r>
            <a:r>
              <a:rPr lang="vi-VN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 lên </a:t>
            </a:r>
            <a:r>
              <a:rPr lang="en-US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CNCS ở </a:t>
            </a:r>
            <a:r>
              <a:rPr lang="en-US" dirty="0" err="1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những</a:t>
            </a:r>
            <a:r>
              <a:rPr lang="en-US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nước</a:t>
            </a:r>
            <a:r>
              <a:rPr lang="en-US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tư</a:t>
            </a:r>
            <a:r>
              <a:rPr lang="en-US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bản</a:t>
            </a:r>
            <a:r>
              <a:rPr lang="en-US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vi-VN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phát triển</a:t>
            </a:r>
            <a:endParaRPr lang="en-US" dirty="0">
              <a:solidFill>
                <a:srgbClr val="002060"/>
              </a:solidFill>
              <a:latin typeface="Time New Roman"/>
              <a:cs typeface="Arial" panose="020B0604020202020204" pitchFamily="34" charset="0"/>
            </a:endParaRPr>
          </a:p>
          <a:p>
            <a:pPr algn="just" eaLnBrk="1" hangingPunct="1">
              <a:buFontTx/>
              <a:buNone/>
            </a:pPr>
            <a:r>
              <a:rPr lang="en-US" i="1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      </a:t>
            </a:r>
            <a:r>
              <a:rPr lang="vi-VN" i="1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Quá độ gián tiếp</a:t>
            </a:r>
            <a:r>
              <a:rPr lang="vi-VN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 từ những nước</a:t>
            </a:r>
            <a:r>
              <a:rPr lang="en-US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tiền</a:t>
            </a:r>
            <a:r>
              <a:rPr lang="en-US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tư</a:t>
            </a:r>
            <a:r>
              <a:rPr lang="en-US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bản</a:t>
            </a:r>
            <a:r>
              <a:rPr lang="en-US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hoặc</a:t>
            </a:r>
            <a:r>
              <a:rPr lang="vi-VN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 chưa qua </a:t>
            </a:r>
            <a:r>
              <a:rPr lang="en-US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CNTB</a:t>
            </a:r>
            <a:r>
              <a:rPr lang="vi-VN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 phát triển</a:t>
            </a:r>
            <a:r>
              <a:rPr lang="en-US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)</a:t>
            </a:r>
          </a:p>
          <a:p>
            <a:pPr algn="just" eaLnBrk="1" hangingPunct="1">
              <a:buFontTx/>
              <a:buNone/>
            </a:pPr>
            <a:r>
              <a:rPr lang="en-US" i="1" dirty="0">
                <a:solidFill>
                  <a:srgbClr val="002060"/>
                </a:solidFill>
                <a:latin typeface="Time New Roman"/>
                <a:cs typeface="Arial" panose="020B0604020202020204" pitchFamily="34" charset="0"/>
              </a:rPr>
              <a:t>     </a:t>
            </a:r>
            <a:r>
              <a:rPr lang="en-US" i="1" dirty="0">
                <a:latin typeface="Time New Roman"/>
                <a:cs typeface="Arial" panose="020B0604020202020204" pitchFamily="34" charset="0"/>
              </a:rPr>
              <a:t>   </a:t>
            </a:r>
            <a:endParaRPr lang="en-US" dirty="0">
              <a:latin typeface="Time New Roman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797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Line 3"/>
          <p:cNvSpPr>
            <a:spLocks noChangeShapeType="1"/>
          </p:cNvSpPr>
          <p:nvPr/>
        </p:nvSpPr>
        <p:spPr bwMode="auto">
          <a:xfrm>
            <a:off x="2525713" y="2728913"/>
            <a:ext cx="7696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0" name="Line 4"/>
          <p:cNvSpPr>
            <a:spLocks noChangeShapeType="1"/>
          </p:cNvSpPr>
          <p:nvPr/>
        </p:nvSpPr>
        <p:spPr bwMode="auto">
          <a:xfrm>
            <a:off x="1638300" y="2757488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1" name="Line 5"/>
          <p:cNvSpPr>
            <a:spLocks noChangeShapeType="1"/>
          </p:cNvSpPr>
          <p:nvPr/>
        </p:nvSpPr>
        <p:spPr bwMode="auto">
          <a:xfrm>
            <a:off x="2525713" y="25908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2" name="Line 6"/>
          <p:cNvSpPr>
            <a:spLocks noChangeShapeType="1"/>
          </p:cNvSpPr>
          <p:nvPr/>
        </p:nvSpPr>
        <p:spPr bwMode="auto">
          <a:xfrm>
            <a:off x="4724400" y="23622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 flipV="1">
            <a:off x="7907338" y="2438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5" name="Text Box 9"/>
          <p:cNvSpPr txBox="1">
            <a:spLocks noChangeArrowheads="1"/>
          </p:cNvSpPr>
          <p:nvPr/>
        </p:nvSpPr>
        <p:spPr bwMode="auto">
          <a:xfrm>
            <a:off x="1939925" y="917575"/>
            <a:ext cx="29718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   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 New Roman"/>
                <a:cs typeface="Arial" charset="0"/>
              </a:rPr>
              <a:t>H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 New Roman"/>
                <a:cs typeface="Arial" charset="0"/>
              </a:rPr>
              <a:t>ì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 New Roman"/>
                <a:cs typeface="Arial" charset="0"/>
              </a:rPr>
              <a:t>nh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/>
                <a:cs typeface="Arial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 New Roman"/>
                <a:cs typeface="Arial" charset="0"/>
              </a:rPr>
              <a:t>thái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/>
                <a:cs typeface="Arial" charset="0"/>
              </a:rPr>
              <a:t> KT-XH TBCN</a:t>
            </a:r>
            <a:endParaRPr 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.VnTime"/>
              <a:cs typeface="Arial" charset="0"/>
            </a:endParaRPr>
          </a:p>
        </p:txBody>
      </p:sp>
      <p:sp>
        <p:nvSpPr>
          <p:cNvPr id="116746" name="Text Box 10"/>
          <p:cNvSpPr txBox="1">
            <a:spLocks noChangeArrowheads="1"/>
          </p:cNvSpPr>
          <p:nvPr/>
        </p:nvSpPr>
        <p:spPr bwMode="auto">
          <a:xfrm>
            <a:off x="5410200" y="917576"/>
            <a:ext cx="4114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H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 New Roman"/>
                <a:cs typeface="Arial" charset="0"/>
              </a:rPr>
              <a:t>ì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nh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th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 New Roman"/>
                <a:cs typeface="Arial" charset="0"/>
              </a:rPr>
              <a:t>á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 KT-XH CSCN</a:t>
            </a:r>
          </a:p>
        </p:txBody>
      </p:sp>
      <p:sp>
        <p:nvSpPr>
          <p:cNvPr id="116747" name="Line 11"/>
          <p:cNvSpPr>
            <a:spLocks noChangeShapeType="1"/>
          </p:cNvSpPr>
          <p:nvPr/>
        </p:nvSpPr>
        <p:spPr bwMode="auto">
          <a:xfrm flipV="1">
            <a:off x="4738688" y="179387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8" name="Line 12"/>
          <p:cNvSpPr>
            <a:spLocks noChangeShapeType="1"/>
          </p:cNvSpPr>
          <p:nvPr/>
        </p:nvSpPr>
        <p:spPr bwMode="auto">
          <a:xfrm flipV="1">
            <a:off x="7913688" y="19256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9" name="Line 13"/>
          <p:cNvSpPr>
            <a:spLocks noChangeShapeType="1"/>
          </p:cNvSpPr>
          <p:nvPr/>
        </p:nvSpPr>
        <p:spPr bwMode="auto">
          <a:xfrm>
            <a:off x="4678363" y="2403475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2" name="Text Box 14"/>
          <p:cNvSpPr txBox="1">
            <a:spLocks noChangeArrowheads="1"/>
          </p:cNvSpPr>
          <p:nvPr/>
        </p:nvSpPr>
        <p:spPr bwMode="auto">
          <a:xfrm>
            <a:off x="5013326" y="2735263"/>
            <a:ext cx="2606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800">
              <a:latin typeface=".VnTime" panose="020B7200000000000000" pitchFamily="34" charset="0"/>
            </a:endParaRPr>
          </a:p>
        </p:txBody>
      </p:sp>
      <p:sp>
        <p:nvSpPr>
          <p:cNvPr id="116751" name="Text Box 15"/>
          <p:cNvSpPr txBox="1">
            <a:spLocks noChangeArrowheads="1"/>
          </p:cNvSpPr>
          <p:nvPr/>
        </p:nvSpPr>
        <p:spPr bwMode="auto">
          <a:xfrm>
            <a:off x="4630738" y="1447800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.VnTime" panose="020B7200000000000000" pitchFamily="34" charset="0"/>
              </a:rPr>
              <a:t>  </a:t>
            </a:r>
            <a:r>
              <a:rPr lang="en-US" altLang="en-US" sz="2400" b="1">
                <a:solidFill>
                  <a:srgbClr val="002060"/>
                </a:solidFill>
                <a:latin typeface="Time New Roman"/>
              </a:rPr>
              <a:t>Giai đoạn thấp</a:t>
            </a:r>
          </a:p>
        </p:txBody>
      </p:sp>
      <p:sp>
        <p:nvSpPr>
          <p:cNvPr id="116752" name="Text Box 16"/>
          <p:cNvSpPr txBox="1">
            <a:spLocks noChangeArrowheads="1"/>
          </p:cNvSpPr>
          <p:nvPr/>
        </p:nvSpPr>
        <p:spPr bwMode="auto">
          <a:xfrm>
            <a:off x="7848600" y="1400176"/>
            <a:ext cx="2819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2400">
                <a:latin typeface=".VnTime" panose="020B7200000000000000" pitchFamily="34" charset="0"/>
              </a:rPr>
              <a:t> </a:t>
            </a:r>
            <a:r>
              <a:rPr lang="en-US" altLang="en-US" sz="2400" b="1">
                <a:solidFill>
                  <a:srgbClr val="002060"/>
                </a:solidFill>
                <a:latin typeface="Time New Roman"/>
              </a:rPr>
              <a:t>Giai đoạn cao (CNCS)</a:t>
            </a:r>
          </a:p>
        </p:txBody>
      </p:sp>
      <p:sp>
        <p:nvSpPr>
          <p:cNvPr id="116753" name="Line 17"/>
          <p:cNvSpPr>
            <a:spLocks noChangeShapeType="1"/>
          </p:cNvSpPr>
          <p:nvPr/>
        </p:nvSpPr>
        <p:spPr bwMode="auto">
          <a:xfrm flipV="1">
            <a:off x="7924800" y="2409826"/>
            <a:ext cx="2133600" cy="11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54" name="Text Box 18"/>
          <p:cNvSpPr txBox="1">
            <a:spLocks noChangeArrowheads="1"/>
          </p:cNvSpPr>
          <p:nvPr/>
        </p:nvSpPr>
        <p:spPr bwMode="auto">
          <a:xfrm>
            <a:off x="4038600" y="2855914"/>
            <a:ext cx="6096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2800">
                <a:latin typeface=".VnTime" panose="020B7200000000000000" pitchFamily="34" charset="0"/>
              </a:rPr>
              <a:t> </a:t>
            </a:r>
            <a:r>
              <a:rPr lang="en-US" altLang="en-US" sz="2400">
                <a:latin typeface=".VnTime" panose="020B7200000000000000" pitchFamily="34" charset="0"/>
              </a:rPr>
              <a:t> </a:t>
            </a:r>
            <a:r>
              <a:rPr lang="en-US" altLang="en-US" sz="2400" b="1">
                <a:solidFill>
                  <a:srgbClr val="002060"/>
                </a:solidFill>
                <a:latin typeface="Time New Roman"/>
              </a:rPr>
              <a:t>Giai đoạn thấp = TKQĐ lên CNCS</a:t>
            </a:r>
          </a:p>
        </p:txBody>
      </p:sp>
      <p:sp>
        <p:nvSpPr>
          <p:cNvPr id="116755" name="Text Box 19"/>
          <p:cNvSpPr txBox="1">
            <a:spLocks noChangeArrowheads="1"/>
          </p:cNvSpPr>
          <p:nvPr/>
        </p:nvSpPr>
        <p:spPr bwMode="auto">
          <a:xfrm>
            <a:off x="10058400" y="2895601"/>
            <a:ext cx="30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>
                <a:latin typeface=".VnTime" panose="020B7200000000000000" pitchFamily="34" charset="0"/>
              </a:rPr>
              <a:t>t</a:t>
            </a:r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1981200" y="384175"/>
            <a:ext cx="7772400" cy="533400"/>
          </a:xfrm>
          <a:prstGeom prst="rect">
            <a:avLst/>
          </a:prstGeom>
        </p:spPr>
        <p:txBody>
          <a:bodyPr bIns="91440" anchor="b">
            <a:normAutofit fontScale="97500" lnSpcReduction="10000"/>
          </a:bodyPr>
          <a:lstStyle/>
          <a:p>
            <a:pPr>
              <a:defRPr/>
            </a:pPr>
            <a:r>
              <a:rPr lang="en-US" sz="2800" b="1" dirty="0">
                <a:solidFill>
                  <a:srgbClr val="7030A0"/>
                </a:solidFill>
                <a:latin typeface=".VnTime" pitchFamily="34" charset="0"/>
                <a:ea typeface="+mj-ea"/>
                <a:cs typeface="+mj-cs"/>
              </a:rPr>
              <a:t>- </a:t>
            </a:r>
            <a:r>
              <a:rPr lang="en-US" sz="2800" b="1" dirty="0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Theo </a:t>
            </a:r>
            <a:r>
              <a:rPr lang="en-US" sz="2800" b="1" dirty="0" err="1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Mác</a:t>
            </a:r>
            <a:r>
              <a:rPr lang="en-US" sz="2800" b="1" dirty="0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 - </a:t>
            </a:r>
            <a:r>
              <a:rPr lang="en-US" sz="2800" b="1" dirty="0" err="1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Ăngghen</a:t>
            </a:r>
            <a:r>
              <a:rPr lang="en-US" sz="2800" b="1" dirty="0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 </a:t>
            </a:r>
            <a:r>
              <a:rPr lang="en-US" sz="2500" b="1" dirty="0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(</a:t>
            </a:r>
            <a:r>
              <a:rPr lang="en-US" sz="2500" b="1" dirty="0" err="1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Quá</a:t>
            </a:r>
            <a:r>
              <a:rPr lang="en-US" sz="2500" b="1" dirty="0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 </a:t>
            </a:r>
            <a:r>
              <a:rPr lang="en-US" sz="2500" b="1" dirty="0" err="1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độ</a:t>
            </a:r>
            <a:r>
              <a:rPr lang="en-US" sz="2500" b="1" dirty="0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 </a:t>
            </a:r>
            <a:r>
              <a:rPr lang="en-US" sz="2500" b="1" dirty="0" err="1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trực</a:t>
            </a:r>
            <a:r>
              <a:rPr lang="en-US" sz="2500" b="1" dirty="0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 </a:t>
            </a:r>
            <a:r>
              <a:rPr lang="en-US" sz="2500" b="1" dirty="0" err="1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tiếp</a:t>
            </a:r>
            <a:r>
              <a:rPr lang="en-US" sz="2500" b="1" dirty="0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)</a:t>
            </a:r>
          </a:p>
        </p:txBody>
      </p:sp>
      <p:sp>
        <p:nvSpPr>
          <p:cNvPr id="21" name="Rectangle 2"/>
          <p:cNvSpPr txBox="1">
            <a:spLocks noChangeArrowheads="1"/>
          </p:cNvSpPr>
          <p:nvPr/>
        </p:nvSpPr>
        <p:spPr>
          <a:xfrm>
            <a:off x="1714500" y="3560763"/>
            <a:ext cx="5638800" cy="685800"/>
          </a:xfrm>
          <a:prstGeom prst="rect">
            <a:avLst/>
          </a:prstGeom>
        </p:spPr>
        <p:txBody>
          <a:bodyPr bIns="91440" anchor="b"/>
          <a:lstStyle/>
          <a:p>
            <a:pPr>
              <a:defRPr/>
            </a:pPr>
            <a:r>
              <a:rPr lang="en-US" sz="2700" b="1" dirty="0">
                <a:solidFill>
                  <a:srgbClr val="7030A0"/>
                </a:solidFill>
                <a:latin typeface=".VnTime" pitchFamily="34" charset="0"/>
                <a:ea typeface="+mj-ea"/>
                <a:cs typeface="+mj-cs"/>
              </a:rPr>
              <a:t>- </a:t>
            </a:r>
            <a:r>
              <a:rPr lang="en-US" sz="2700" b="1" dirty="0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Theo V.I. </a:t>
            </a:r>
            <a:r>
              <a:rPr lang="en-US" sz="2700" b="1" dirty="0" err="1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Lênin</a:t>
            </a:r>
            <a:r>
              <a:rPr lang="en-US" sz="2700" b="1" dirty="0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(</a:t>
            </a:r>
            <a:r>
              <a:rPr lang="en-US" sz="2400" b="1" dirty="0" err="1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Quá</a:t>
            </a:r>
            <a:r>
              <a:rPr lang="en-US" sz="2400" b="1" dirty="0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 </a:t>
            </a:r>
            <a:r>
              <a:rPr lang="en-US" sz="2400" b="1" dirty="0" err="1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độ</a:t>
            </a:r>
            <a:r>
              <a:rPr lang="en-US" sz="2400" b="1" dirty="0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 </a:t>
            </a:r>
            <a:r>
              <a:rPr lang="en-US" sz="2400" b="1" dirty="0" err="1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gián</a:t>
            </a:r>
            <a:r>
              <a:rPr lang="en-US" sz="2400" b="1" dirty="0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 </a:t>
            </a:r>
            <a:r>
              <a:rPr lang="en-US" sz="2400" b="1" dirty="0" err="1">
                <a:solidFill>
                  <a:srgbClr val="7030A0"/>
                </a:solidFill>
                <a:latin typeface="Time New Roman"/>
                <a:ea typeface="+mj-ea"/>
                <a:cs typeface="+mj-cs"/>
              </a:rPr>
              <a:t>tiếp</a:t>
            </a:r>
            <a:r>
              <a:rPr lang="en-US" sz="2400" b="1" dirty="0">
                <a:solidFill>
                  <a:srgbClr val="7030A0"/>
                </a:solidFill>
                <a:latin typeface="Time New Roman"/>
                <a:ea typeface="+mj-ea"/>
                <a:cs typeface="+mj-cs"/>
                <a:hlinkClick r:id="rId2" action="ppaction://hlinkpres?slideindex=1&amp;slidetitle="/>
              </a:rPr>
              <a:t>)</a:t>
            </a:r>
            <a:endParaRPr lang="en-US" sz="2400" b="1" dirty="0">
              <a:solidFill>
                <a:srgbClr val="7030A0"/>
              </a:solidFill>
              <a:latin typeface="Time New Roman"/>
              <a:ea typeface="+mj-ea"/>
              <a:cs typeface="+mj-cs"/>
            </a:endParaRP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2286000" y="4419601"/>
            <a:ext cx="2438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H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 New Roman"/>
                <a:cs typeface="Arial" charset="0"/>
              </a:rPr>
              <a:t>ì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nh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th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 New Roman"/>
                <a:cs typeface="Arial" charset="0"/>
              </a:rPr>
              <a:t>á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 KT-XH 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.VnTime" pitchFamily="34" charset="0"/>
                <a:cs typeface="Arial" charset="0"/>
              </a:rPr>
              <a:t>TBCN</a:t>
            </a: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5791200" y="4191001"/>
            <a:ext cx="419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ì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nh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KT-XH </a:t>
            </a:r>
            <a:r>
              <a:rPr lang="en-US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CSCN</a:t>
            </a:r>
          </a:p>
        </p:txBody>
      </p:sp>
      <p:sp>
        <p:nvSpPr>
          <p:cNvPr id="24" name="Text Box 15"/>
          <p:cNvSpPr txBox="1">
            <a:spLocks noChangeArrowheads="1"/>
          </p:cNvSpPr>
          <p:nvPr/>
        </p:nvSpPr>
        <p:spPr bwMode="auto">
          <a:xfrm>
            <a:off x="4648200" y="4648201"/>
            <a:ext cx="3429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2060"/>
                </a:solidFill>
                <a:latin typeface="Time New Roman"/>
              </a:rPr>
              <a:t>Giai đoạn thấp(CNXH</a:t>
            </a:r>
            <a:r>
              <a:rPr lang="en-US" altLang="en-US" sz="2400">
                <a:latin typeface="Time New Roman"/>
              </a:rPr>
              <a:t>) </a:t>
            </a:r>
          </a:p>
        </p:txBody>
      </p:sp>
      <p:sp>
        <p:nvSpPr>
          <p:cNvPr id="25" name="Text Box 16"/>
          <p:cNvSpPr txBox="1">
            <a:spLocks noChangeArrowheads="1"/>
          </p:cNvSpPr>
          <p:nvPr/>
        </p:nvSpPr>
        <p:spPr bwMode="auto">
          <a:xfrm>
            <a:off x="7848600" y="4648201"/>
            <a:ext cx="2819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latin typeface=".VnTime" panose="020B7200000000000000" pitchFamily="34" charset="0"/>
              </a:rPr>
              <a:t> </a:t>
            </a:r>
            <a:r>
              <a:rPr lang="en-US" altLang="en-US" sz="2400" b="1">
                <a:solidFill>
                  <a:srgbClr val="002060"/>
                </a:solidFill>
                <a:latin typeface="Time New Roman"/>
              </a:rPr>
              <a:t>Giai đoạn cao (CNCS</a:t>
            </a:r>
            <a:r>
              <a:rPr lang="en-US" altLang="en-US" sz="2400">
                <a:latin typeface="Time New Roman"/>
              </a:rPr>
              <a:t>)</a:t>
            </a:r>
          </a:p>
        </p:txBody>
      </p:sp>
      <p:sp>
        <p:nvSpPr>
          <p:cNvPr id="26" name="Line 3"/>
          <p:cNvSpPr>
            <a:spLocks noChangeShapeType="1"/>
          </p:cNvSpPr>
          <p:nvPr/>
        </p:nvSpPr>
        <p:spPr bwMode="auto">
          <a:xfrm>
            <a:off x="2438400" y="5562600"/>
            <a:ext cx="7696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4"/>
          <p:cNvSpPr>
            <a:spLocks noChangeShapeType="1"/>
          </p:cNvSpPr>
          <p:nvPr/>
        </p:nvSpPr>
        <p:spPr bwMode="auto">
          <a:xfrm>
            <a:off x="1524000" y="5562600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5"/>
          <p:cNvSpPr>
            <a:spLocks noChangeShapeType="1"/>
          </p:cNvSpPr>
          <p:nvPr/>
        </p:nvSpPr>
        <p:spPr bwMode="auto">
          <a:xfrm>
            <a:off x="2438400" y="54102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6"/>
          <p:cNvSpPr>
            <a:spLocks noChangeShapeType="1"/>
          </p:cNvSpPr>
          <p:nvPr/>
        </p:nvSpPr>
        <p:spPr bwMode="auto">
          <a:xfrm>
            <a:off x="4724400" y="54102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7"/>
          <p:cNvSpPr>
            <a:spLocks noChangeShapeType="1"/>
          </p:cNvSpPr>
          <p:nvPr/>
        </p:nvSpPr>
        <p:spPr bwMode="auto">
          <a:xfrm flipV="1">
            <a:off x="8001000" y="55626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Text Box 19"/>
          <p:cNvSpPr txBox="1">
            <a:spLocks noChangeArrowheads="1"/>
          </p:cNvSpPr>
          <p:nvPr/>
        </p:nvSpPr>
        <p:spPr bwMode="auto">
          <a:xfrm>
            <a:off x="9982200" y="5638801"/>
            <a:ext cx="304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>
                <a:latin typeface=".VnTime" panose="020B7200000000000000" pitchFamily="34" charset="0"/>
              </a:rPr>
              <a:t>t</a:t>
            </a:r>
          </a:p>
        </p:txBody>
      </p:sp>
      <p:sp>
        <p:nvSpPr>
          <p:cNvPr id="33" name="Line 13"/>
          <p:cNvSpPr>
            <a:spLocks noChangeShapeType="1"/>
          </p:cNvSpPr>
          <p:nvPr/>
        </p:nvSpPr>
        <p:spPr bwMode="auto">
          <a:xfrm>
            <a:off x="4724400" y="53340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17"/>
          <p:cNvSpPr>
            <a:spLocks noChangeShapeType="1"/>
          </p:cNvSpPr>
          <p:nvPr/>
        </p:nvSpPr>
        <p:spPr bwMode="auto">
          <a:xfrm>
            <a:off x="8001000" y="53340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11"/>
          <p:cNvSpPr>
            <a:spLocks noChangeShapeType="1"/>
          </p:cNvSpPr>
          <p:nvPr/>
        </p:nvSpPr>
        <p:spPr bwMode="auto">
          <a:xfrm flipV="1">
            <a:off x="4724400" y="4800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12"/>
          <p:cNvSpPr>
            <a:spLocks noChangeShapeType="1"/>
          </p:cNvSpPr>
          <p:nvPr/>
        </p:nvSpPr>
        <p:spPr bwMode="auto">
          <a:xfrm flipV="1">
            <a:off x="8001000" y="4953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22"/>
          <p:cNvSpPr>
            <a:spLocks noChangeShapeType="1"/>
          </p:cNvSpPr>
          <p:nvPr/>
        </p:nvSpPr>
        <p:spPr bwMode="auto">
          <a:xfrm>
            <a:off x="4724400" y="5715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22"/>
          <p:cNvSpPr>
            <a:spLocks noChangeShapeType="1"/>
          </p:cNvSpPr>
          <p:nvPr/>
        </p:nvSpPr>
        <p:spPr bwMode="auto">
          <a:xfrm>
            <a:off x="8001000" y="5715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8"/>
          <p:cNvSpPr>
            <a:spLocks noChangeShapeType="1"/>
          </p:cNvSpPr>
          <p:nvPr/>
        </p:nvSpPr>
        <p:spPr bwMode="auto">
          <a:xfrm flipV="1">
            <a:off x="6477000" y="55626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Text Box 19"/>
          <p:cNvSpPr txBox="1">
            <a:spLocks noChangeArrowheads="1"/>
          </p:cNvSpPr>
          <p:nvPr/>
        </p:nvSpPr>
        <p:spPr bwMode="auto">
          <a:xfrm>
            <a:off x="4533900" y="5715001"/>
            <a:ext cx="20955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30000"/>
              </a:spcBef>
            </a:pPr>
            <a:r>
              <a:rPr lang="en-US" altLang="en-US" sz="2400" b="1">
                <a:solidFill>
                  <a:srgbClr val="002060"/>
                </a:solidFill>
                <a:latin typeface="Time New Roman"/>
                <a:hlinkClick r:id="rId3" action="ppaction://hlinkpres?slideindex=1&amp;slidetitle="/>
              </a:rPr>
              <a:t>TKQĐ</a:t>
            </a:r>
            <a:endParaRPr lang="en-US" altLang="en-US" sz="2400" b="1">
              <a:solidFill>
                <a:srgbClr val="002060"/>
              </a:solidFill>
              <a:latin typeface="Time New Roman"/>
            </a:endParaRPr>
          </a:p>
          <a:p>
            <a:pPr algn="ctr" eaLnBrk="1" hangingPunct="1">
              <a:lnSpc>
                <a:spcPct val="115000"/>
              </a:lnSpc>
              <a:spcBef>
                <a:spcPct val="30000"/>
              </a:spcBef>
            </a:pPr>
            <a:r>
              <a:rPr lang="en-US" altLang="en-US" sz="2400" b="1">
                <a:solidFill>
                  <a:srgbClr val="002060"/>
                </a:solidFill>
                <a:latin typeface="Time New Roman"/>
              </a:rPr>
              <a:t>(Lên CNXH</a:t>
            </a:r>
            <a:r>
              <a:rPr lang="en-US" altLang="en-US" sz="2000" b="1">
                <a:latin typeface=".VnTime" panose="020B7200000000000000" pitchFamily="34" charset="0"/>
              </a:rPr>
              <a:t>)</a:t>
            </a:r>
          </a:p>
        </p:txBody>
      </p:sp>
      <p:sp>
        <p:nvSpPr>
          <p:cNvPr id="43" name="Text Box 20"/>
          <p:cNvSpPr txBox="1">
            <a:spLocks noChangeArrowheads="1"/>
          </p:cNvSpPr>
          <p:nvPr/>
        </p:nvSpPr>
        <p:spPr bwMode="auto">
          <a:xfrm>
            <a:off x="6553200" y="5622926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2060"/>
                </a:solidFill>
                <a:latin typeface="Time New Roman"/>
              </a:rPr>
              <a:t>CNXH</a:t>
            </a:r>
          </a:p>
        </p:txBody>
      </p:sp>
      <p:sp>
        <p:nvSpPr>
          <p:cNvPr id="44" name="Text Box 20"/>
          <p:cNvSpPr txBox="1">
            <a:spLocks noChangeArrowheads="1"/>
          </p:cNvSpPr>
          <p:nvPr/>
        </p:nvSpPr>
        <p:spPr bwMode="auto">
          <a:xfrm>
            <a:off x="8229600" y="5638801"/>
            <a:ext cx="1600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2400" b="1">
                <a:solidFill>
                  <a:srgbClr val="002060"/>
                </a:solidFill>
                <a:latin typeface="Time New Roman"/>
              </a:rPr>
              <a:t>CNCS</a:t>
            </a:r>
          </a:p>
        </p:txBody>
      </p:sp>
      <p:pic>
        <p:nvPicPr>
          <p:cNvPr id="2564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139" y="5653089"/>
            <a:ext cx="303053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4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735264"/>
            <a:ext cx="2681288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488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6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6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6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67" dur="2000"/>
                                        <p:tgtEl>
                                          <p:spTgt spid="116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/>
      <p:bldP spid="116740" grpId="0" animBg="1"/>
      <p:bldP spid="116741" grpId="0" animBg="1"/>
      <p:bldP spid="116742" grpId="0" animBg="1"/>
      <p:bldP spid="116743" grpId="0" animBg="1"/>
      <p:bldP spid="116745" grpId="0"/>
      <p:bldP spid="116746" grpId="0"/>
      <p:bldP spid="116747" grpId="0" animBg="1"/>
      <p:bldP spid="116748" grpId="0" animBg="1"/>
      <p:bldP spid="116749" grpId="0" animBg="1"/>
      <p:bldP spid="116751" grpId="0"/>
      <p:bldP spid="116752" grpId="0"/>
      <p:bldP spid="116753" grpId="0" animBg="1"/>
      <p:bldP spid="116754" grpId="0"/>
      <p:bldP spid="116755" grpId="0"/>
      <p:bldP spid="21" grpId="0"/>
      <p:bldP spid="22" grpId="0"/>
      <p:bldP spid="23" grpId="0"/>
      <p:bldP spid="24" grpId="0"/>
      <p:bldP spid="25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2" grpId="0"/>
      <p:bldP spid="43" grpId="0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EBC8B95-8551-4639-893B-C92E81D93A52}" type="slidenum">
              <a:rPr lang="en-US">
                <a:latin typeface=".VnTime" panose="020B7200000000000000" pitchFamily="34" charset="0"/>
              </a:rPr>
              <a:pPr eaLnBrk="1" hangingPunct="1"/>
              <a:t>11</a:t>
            </a:fld>
            <a:endParaRPr lang="en-US">
              <a:latin typeface=".VnTime" panose="020B7200000000000000" pitchFamily="34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2375338" y="381211"/>
            <a:ext cx="9653752" cy="1219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vi-V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vi-V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 điểm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TKQĐ l</a:t>
            </a:r>
            <a:r>
              <a:rPr lang="vi-V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ên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CNXH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6842" y="1773620"/>
            <a:ext cx="11430000" cy="5257800"/>
          </a:xfrm>
        </p:spPr>
        <p:txBody>
          <a:bodyPr/>
          <a:lstStyle/>
          <a:p>
            <a:pPr algn="just" eaLnBrk="1" hangingPunct="1">
              <a:lnSpc>
                <a:spcPct val="200000"/>
              </a:lnSpc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Đan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xen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mảnh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phận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XH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cũ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XH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mới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mọi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200000"/>
              </a:lnSpc>
              <a:buFontTx/>
              <a:buNone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    +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C.Mác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TKQĐ: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200000"/>
              </a:lnSpc>
              <a:buFontTx/>
              <a:buNone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    +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Lênin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rõ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 eaLnBrk="1" hangingPunct="1">
              <a:lnSpc>
                <a:spcPct val="200000"/>
              </a:lnSpc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  <a:p>
            <a:pPr algn="just" eaLnBrk="1" hangingPunct="1">
              <a:buFontTx/>
              <a:buChar char="-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3302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5" name="Text Box 5"/>
          <p:cNvSpPr txBox="1">
            <a:spLocks noChangeArrowheads="1"/>
          </p:cNvSpPr>
          <p:nvPr/>
        </p:nvSpPr>
        <p:spPr bwMode="auto">
          <a:xfrm>
            <a:off x="4372303" y="604345"/>
            <a:ext cx="4038600" cy="52322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dirty="0" err="1">
                <a:latin typeface="Time New Roman"/>
              </a:rPr>
              <a:t>Đặc</a:t>
            </a:r>
            <a:r>
              <a:rPr lang="en-US" sz="2800" dirty="0">
                <a:latin typeface="Time New Roman"/>
              </a:rPr>
              <a:t> </a:t>
            </a:r>
            <a:r>
              <a:rPr lang="en-US" sz="2800" dirty="0" err="1">
                <a:latin typeface="Time New Roman"/>
              </a:rPr>
              <a:t>điểm</a:t>
            </a:r>
            <a:r>
              <a:rPr lang="en-US" sz="2800" dirty="0">
                <a:latin typeface="Time New Roman"/>
              </a:rPr>
              <a:t> </a:t>
            </a:r>
            <a:r>
              <a:rPr lang="en-US" sz="2800" dirty="0" err="1">
                <a:latin typeface="Time New Roman"/>
              </a:rPr>
              <a:t>của</a:t>
            </a:r>
            <a:r>
              <a:rPr lang="en-US" sz="2800" dirty="0">
                <a:latin typeface="Time New Roman"/>
              </a:rPr>
              <a:t> TKQĐ</a:t>
            </a:r>
          </a:p>
        </p:txBody>
      </p:sp>
      <p:sp>
        <p:nvSpPr>
          <p:cNvPr id="158726" name="Text Box 6"/>
          <p:cNvSpPr txBox="1">
            <a:spLocks noChangeArrowheads="1"/>
          </p:cNvSpPr>
          <p:nvPr/>
        </p:nvSpPr>
        <p:spPr bwMode="auto">
          <a:xfrm>
            <a:off x="2086303" y="2585545"/>
            <a:ext cx="2590800" cy="37548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800">
                <a:solidFill>
                  <a:srgbClr val="0000FF"/>
                </a:solidFill>
                <a:latin typeface="Time New Roman"/>
              </a:rPr>
              <a:t>Lĩnh vực kinh tế</a:t>
            </a:r>
          </a:p>
          <a:p>
            <a:pPr algn="just">
              <a:spcBef>
                <a:spcPct val="50000"/>
              </a:spcBef>
            </a:pPr>
            <a:r>
              <a:rPr lang="en-US" sz="2800">
                <a:latin typeface="Time New Roman"/>
              </a:rPr>
              <a:t>Tồn tại nền kinh tế nhiều thành phần vận động theo định hướng XHCN</a:t>
            </a:r>
          </a:p>
        </p:txBody>
      </p:sp>
      <p:sp>
        <p:nvSpPr>
          <p:cNvPr id="158728" name="Text Box 8"/>
          <p:cNvSpPr txBox="1">
            <a:spLocks noChangeArrowheads="1"/>
          </p:cNvSpPr>
          <p:nvPr/>
        </p:nvSpPr>
        <p:spPr bwMode="auto">
          <a:xfrm>
            <a:off x="4981903" y="2585546"/>
            <a:ext cx="2590800" cy="24622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800" dirty="0" err="1">
                <a:solidFill>
                  <a:srgbClr val="0000FF"/>
                </a:solidFill>
                <a:latin typeface="Time New Roman"/>
              </a:rPr>
              <a:t>Lĩnh</a:t>
            </a:r>
            <a:r>
              <a:rPr lang="en-US" sz="2800" dirty="0">
                <a:solidFill>
                  <a:srgbClr val="0000FF"/>
                </a:solidFill>
                <a:latin typeface="Time New Roman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 New Roman"/>
              </a:rPr>
              <a:t>vực</a:t>
            </a:r>
            <a:r>
              <a:rPr lang="en-US" sz="2800" dirty="0">
                <a:solidFill>
                  <a:srgbClr val="0000FF"/>
                </a:solidFill>
                <a:latin typeface="Time New Roman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 New Roman"/>
              </a:rPr>
              <a:t>chính</a:t>
            </a:r>
            <a:r>
              <a:rPr lang="en-US" sz="2800" dirty="0">
                <a:solidFill>
                  <a:srgbClr val="0000FF"/>
                </a:solidFill>
                <a:latin typeface="Time New Roman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 New Roman"/>
              </a:rPr>
              <a:t>trị</a:t>
            </a:r>
            <a:endParaRPr lang="en-US" sz="2800" dirty="0">
              <a:solidFill>
                <a:srgbClr val="0000FF"/>
              </a:solidFill>
              <a:latin typeface="Time New Roman"/>
            </a:endParaRPr>
          </a:p>
          <a:p>
            <a:pPr algn="just">
              <a:spcBef>
                <a:spcPct val="50000"/>
              </a:spcBef>
            </a:pPr>
            <a:r>
              <a:rPr lang="en-US" sz="2800" dirty="0" err="1">
                <a:latin typeface="Time New Roman"/>
              </a:rPr>
              <a:t>Kết</a:t>
            </a:r>
            <a:r>
              <a:rPr lang="en-US" sz="2800" dirty="0">
                <a:latin typeface="Time New Roman"/>
              </a:rPr>
              <a:t> </a:t>
            </a:r>
            <a:r>
              <a:rPr lang="en-US" sz="2800" dirty="0" err="1">
                <a:latin typeface="Time New Roman"/>
              </a:rPr>
              <a:t>cấu</a:t>
            </a:r>
            <a:r>
              <a:rPr lang="en-US" sz="2800" dirty="0">
                <a:latin typeface="Time New Roman"/>
              </a:rPr>
              <a:t> </a:t>
            </a:r>
            <a:r>
              <a:rPr lang="en-US" sz="2800" dirty="0" err="1">
                <a:latin typeface="Time New Roman"/>
              </a:rPr>
              <a:t>xã</a:t>
            </a:r>
            <a:r>
              <a:rPr lang="en-US" sz="2800" dirty="0">
                <a:latin typeface="Time New Roman"/>
              </a:rPr>
              <a:t> </a:t>
            </a:r>
            <a:r>
              <a:rPr lang="en-US" sz="2800" dirty="0" err="1">
                <a:latin typeface="Time New Roman"/>
              </a:rPr>
              <a:t>hội</a:t>
            </a:r>
            <a:r>
              <a:rPr lang="en-US" sz="2800" dirty="0">
                <a:latin typeface="Time New Roman"/>
              </a:rPr>
              <a:t> </a:t>
            </a:r>
            <a:r>
              <a:rPr lang="en-US" sz="2800" dirty="0" err="1">
                <a:latin typeface="Time New Roman"/>
              </a:rPr>
              <a:t>đa</a:t>
            </a:r>
            <a:r>
              <a:rPr lang="en-US" sz="2800" dirty="0">
                <a:latin typeface="Time New Roman"/>
              </a:rPr>
              <a:t> </a:t>
            </a:r>
            <a:r>
              <a:rPr lang="en-US" sz="2800" dirty="0" err="1">
                <a:latin typeface="Time New Roman"/>
              </a:rPr>
              <a:t>dạng</a:t>
            </a:r>
            <a:r>
              <a:rPr lang="en-US" sz="2800" dirty="0">
                <a:latin typeface="Time New Roman"/>
              </a:rPr>
              <a:t>, </a:t>
            </a:r>
            <a:r>
              <a:rPr lang="en-US" sz="2800" dirty="0" err="1">
                <a:latin typeface="Time New Roman"/>
              </a:rPr>
              <a:t>phức</a:t>
            </a:r>
            <a:r>
              <a:rPr lang="en-US" sz="2800" dirty="0">
                <a:latin typeface="Time New Roman"/>
              </a:rPr>
              <a:t> </a:t>
            </a:r>
            <a:r>
              <a:rPr lang="en-US" sz="2800" dirty="0" err="1">
                <a:latin typeface="Time New Roman"/>
              </a:rPr>
              <a:t>tạp</a:t>
            </a:r>
            <a:endParaRPr lang="en-US" sz="2800" dirty="0">
              <a:latin typeface="Time New Roman"/>
            </a:endParaRPr>
          </a:p>
        </p:txBody>
      </p:sp>
      <p:sp>
        <p:nvSpPr>
          <p:cNvPr id="158729" name="Text Box 9"/>
          <p:cNvSpPr txBox="1">
            <a:spLocks noChangeArrowheads="1"/>
          </p:cNvSpPr>
          <p:nvPr/>
        </p:nvSpPr>
        <p:spPr bwMode="auto">
          <a:xfrm>
            <a:off x="7801303" y="2585545"/>
            <a:ext cx="2590800" cy="2893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800">
                <a:solidFill>
                  <a:srgbClr val="0000FF"/>
                </a:solidFill>
                <a:latin typeface="Time New Roman"/>
              </a:rPr>
              <a:t>Lĩnh vực tư tưởng văn hoá – xã hội</a:t>
            </a:r>
          </a:p>
          <a:p>
            <a:pPr algn="just">
              <a:spcBef>
                <a:spcPct val="50000"/>
              </a:spcBef>
            </a:pPr>
            <a:r>
              <a:rPr lang="en-US" sz="2800">
                <a:latin typeface="Time New Roman"/>
              </a:rPr>
              <a:t>Tồn tại nhiều tư tưởng văn hoá khác nhau</a:t>
            </a:r>
          </a:p>
        </p:txBody>
      </p:sp>
      <p:sp>
        <p:nvSpPr>
          <p:cNvPr id="158730" name="Line 10"/>
          <p:cNvSpPr>
            <a:spLocks noChangeShapeType="1"/>
          </p:cNvSpPr>
          <p:nvPr/>
        </p:nvSpPr>
        <p:spPr bwMode="auto">
          <a:xfrm>
            <a:off x="6261538" y="1173136"/>
            <a:ext cx="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>
              <a:latin typeface="Time New Roman"/>
            </a:endParaRPr>
          </a:p>
        </p:txBody>
      </p:sp>
      <p:sp>
        <p:nvSpPr>
          <p:cNvPr id="158731" name="Line 11"/>
          <p:cNvSpPr>
            <a:spLocks noChangeShapeType="1"/>
          </p:cNvSpPr>
          <p:nvPr/>
        </p:nvSpPr>
        <p:spPr bwMode="auto">
          <a:xfrm flipH="1">
            <a:off x="3427851" y="1173136"/>
            <a:ext cx="28194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>
              <a:latin typeface="Time New Roman"/>
            </a:endParaRPr>
          </a:p>
        </p:txBody>
      </p:sp>
      <p:sp>
        <p:nvSpPr>
          <p:cNvPr id="158732" name="Line 12"/>
          <p:cNvSpPr>
            <a:spLocks noChangeShapeType="1"/>
          </p:cNvSpPr>
          <p:nvPr/>
        </p:nvSpPr>
        <p:spPr bwMode="auto">
          <a:xfrm>
            <a:off x="6261538" y="1168373"/>
            <a:ext cx="25908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>
              <a:latin typeface="Time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6323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40229" y="1393371"/>
            <a:ext cx="109147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Hãy</a:t>
            </a:r>
            <a:r>
              <a:rPr lang="en-US" sz="4000" dirty="0"/>
              <a:t> </a:t>
            </a:r>
            <a:r>
              <a:rPr lang="en-US" sz="4000" dirty="0" err="1"/>
              <a:t>nêu</a:t>
            </a:r>
            <a:r>
              <a:rPr lang="en-US" sz="4000" dirty="0"/>
              <a:t> </a:t>
            </a:r>
            <a:r>
              <a:rPr lang="en-US" sz="4000" dirty="0" err="1"/>
              <a:t>các</a:t>
            </a:r>
            <a:r>
              <a:rPr lang="en-US" sz="4000" dirty="0"/>
              <a:t> </a:t>
            </a:r>
            <a:r>
              <a:rPr lang="en-US" sz="4000" dirty="0" err="1"/>
              <a:t>thành</a:t>
            </a:r>
            <a:r>
              <a:rPr lang="en-US" sz="4000" dirty="0"/>
              <a:t> </a:t>
            </a:r>
            <a:r>
              <a:rPr lang="en-US" sz="4000" dirty="0" err="1"/>
              <a:t>phần</a:t>
            </a:r>
            <a:r>
              <a:rPr lang="en-US" sz="4000" dirty="0"/>
              <a:t> </a:t>
            </a:r>
            <a:r>
              <a:rPr lang="en-US" sz="4000" dirty="0" err="1"/>
              <a:t>kinh</a:t>
            </a:r>
            <a:r>
              <a:rPr lang="en-US" sz="4000" dirty="0"/>
              <a:t> </a:t>
            </a:r>
            <a:r>
              <a:rPr lang="en-US" sz="4000" dirty="0" err="1"/>
              <a:t>tế</a:t>
            </a:r>
            <a:r>
              <a:rPr lang="en-US" sz="4000" dirty="0"/>
              <a:t> </a:t>
            </a:r>
            <a:r>
              <a:rPr lang="en-US" sz="4000" dirty="0" err="1"/>
              <a:t>của</a:t>
            </a:r>
            <a:r>
              <a:rPr lang="en-US" sz="4000" dirty="0"/>
              <a:t> VN qua </a:t>
            </a:r>
            <a:r>
              <a:rPr lang="en-US" sz="4000" dirty="0" err="1"/>
              <a:t>các</a:t>
            </a:r>
            <a:r>
              <a:rPr lang="en-US" sz="4000" dirty="0"/>
              <a:t> </a:t>
            </a:r>
            <a:r>
              <a:rPr lang="en-US" sz="4000" dirty="0" err="1"/>
              <a:t>kỳ</a:t>
            </a:r>
            <a:r>
              <a:rPr lang="en-US" sz="4000" dirty="0"/>
              <a:t> </a:t>
            </a:r>
            <a:r>
              <a:rPr lang="en-US" sz="4000" dirty="0" err="1"/>
              <a:t>đại</a:t>
            </a:r>
            <a:r>
              <a:rPr lang="en-US" sz="4000" dirty="0"/>
              <a:t> </a:t>
            </a:r>
            <a:r>
              <a:rPr lang="en-US" sz="4000" dirty="0" err="1"/>
              <a:t>hội</a:t>
            </a:r>
            <a:r>
              <a:rPr lang="en-US" sz="4000" dirty="0"/>
              <a:t> </a:t>
            </a:r>
            <a:r>
              <a:rPr lang="en-US" sz="4000" dirty="0" err="1"/>
              <a:t>Đảng</a:t>
            </a:r>
            <a:r>
              <a:rPr lang="en-US" sz="4000" dirty="0"/>
              <a:t> (</a:t>
            </a:r>
            <a:r>
              <a:rPr lang="en-US" sz="4000" dirty="0" err="1"/>
              <a:t>bắt</a:t>
            </a:r>
            <a:r>
              <a:rPr lang="en-US" sz="4000" dirty="0"/>
              <a:t> </a:t>
            </a:r>
            <a:r>
              <a:rPr lang="en-US" sz="4000" dirty="0" err="1"/>
              <a:t>đầu</a:t>
            </a:r>
            <a:r>
              <a:rPr lang="en-US" sz="4000" dirty="0"/>
              <a:t> </a:t>
            </a:r>
            <a:r>
              <a:rPr lang="en-US" sz="4000" dirty="0" err="1"/>
              <a:t>từ</a:t>
            </a:r>
            <a:r>
              <a:rPr lang="en-US" sz="4000" dirty="0"/>
              <a:t> </a:t>
            </a:r>
            <a:r>
              <a:rPr lang="en-US" sz="4000" dirty="0" err="1"/>
              <a:t>đại</a:t>
            </a:r>
            <a:r>
              <a:rPr lang="en-US" sz="4000" dirty="0"/>
              <a:t> </a:t>
            </a:r>
            <a:r>
              <a:rPr lang="en-US" sz="4000" dirty="0" err="1"/>
              <a:t>hội</a:t>
            </a:r>
            <a:r>
              <a:rPr lang="en-US" sz="4000" dirty="0"/>
              <a:t> VI </a:t>
            </a:r>
            <a:r>
              <a:rPr lang="en-US" sz="4000" dirty="0" err="1"/>
              <a:t>đến</a:t>
            </a:r>
            <a:r>
              <a:rPr lang="en-US" sz="4000" dirty="0"/>
              <a:t> </a:t>
            </a:r>
            <a:r>
              <a:rPr lang="en-US" sz="4000" dirty="0" err="1"/>
              <a:t>đại</a:t>
            </a:r>
            <a:r>
              <a:rPr lang="en-US" sz="4000" dirty="0"/>
              <a:t> </a:t>
            </a:r>
            <a:r>
              <a:rPr lang="en-US" sz="4000" dirty="0" err="1"/>
              <a:t>hội</a:t>
            </a:r>
            <a:r>
              <a:rPr lang="en-US" sz="4000" dirty="0"/>
              <a:t> XIII)</a:t>
            </a:r>
          </a:p>
          <a:p>
            <a:r>
              <a:rPr lang="en-US" sz="4000" dirty="0" err="1"/>
              <a:t>Đọc</a:t>
            </a:r>
            <a:r>
              <a:rPr lang="en-US" sz="4000" dirty="0"/>
              <a:t> </a:t>
            </a:r>
            <a:r>
              <a:rPr lang="en-US" sz="4000" dirty="0" err="1"/>
              <a:t>tài</a:t>
            </a:r>
            <a:r>
              <a:rPr lang="en-US" sz="4000" dirty="0"/>
              <a:t> </a:t>
            </a:r>
            <a:r>
              <a:rPr lang="en-US" sz="4000" dirty="0" err="1"/>
              <a:t>liệu</a:t>
            </a:r>
            <a:r>
              <a:rPr lang="en-US" sz="4000" dirty="0"/>
              <a:t> </a:t>
            </a:r>
            <a:r>
              <a:rPr lang="en-US" sz="4000" dirty="0" err="1"/>
              <a:t>và</a:t>
            </a:r>
            <a:r>
              <a:rPr lang="en-US" sz="4000" dirty="0"/>
              <a:t> </a:t>
            </a:r>
            <a:r>
              <a:rPr lang="en-US" sz="4000" dirty="0" err="1"/>
              <a:t>trình</a:t>
            </a:r>
            <a:r>
              <a:rPr lang="en-US" sz="4000" dirty="0"/>
              <a:t> </a:t>
            </a:r>
            <a:r>
              <a:rPr lang="en-US" sz="4000" dirty="0" err="1"/>
              <a:t>bày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33542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DBF36AA-AFBD-4E07-B9FE-1FE731F02EA9}" type="slidenum">
              <a:rPr lang="en-US">
                <a:latin typeface=".VnTime" panose="020B7200000000000000" pitchFamily="34" charset="0"/>
              </a:rPr>
              <a:pPr eaLnBrk="1" hangingPunct="1"/>
              <a:t>14</a:t>
            </a:fld>
            <a:endParaRPr lang="en-US">
              <a:latin typeface=".VnTime" panose="020B7200000000000000" pitchFamily="34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2180896" y="754328"/>
            <a:ext cx="9690538" cy="914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3.3. QUÁ ĐỘ LÊN CNXH Ở VIỆT NAM</a:t>
            </a:r>
            <a:b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1"/>
            <a:ext cx="11177752" cy="4953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vi-V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3.1. Quá độ lên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CNXH</a:t>
            </a:r>
            <a:r>
              <a:rPr lang="vi-V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bỏ qua chế độ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TBCN</a:t>
            </a:r>
          </a:p>
          <a:p>
            <a:pPr eaLnBrk="1" hangingPunct="1">
              <a:buFontTx/>
              <a:buNone/>
            </a:pP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TKQĐ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CNXH ở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Việt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Nam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bỏ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qua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TBCN”</a:t>
            </a:r>
          </a:p>
          <a:p>
            <a:pPr eaLnBrk="1" hangingPunct="1">
              <a:buFontTx/>
              <a:buChar char="-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niệm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bỏ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qua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IX</a:t>
            </a:r>
          </a:p>
          <a:p>
            <a:pPr eaLnBrk="1" hangingPunct="1">
              <a:buFontTx/>
              <a:buNone/>
            </a:pPr>
            <a:r>
              <a:rPr lang="en-US" sz="3400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i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</a:p>
          <a:p>
            <a:pPr algn="just" eaLnBrk="1" hangingPunct="1">
              <a:buFontTx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422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856" y="478970"/>
            <a:ext cx="9085943" cy="5877379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723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1" name="Rectangle 3"/>
          <p:cNvSpPr>
            <a:spLocks noGrp="1" noChangeArrowheads="1"/>
          </p:cNvSpPr>
          <p:nvPr>
            <p:ph idx="1"/>
          </p:nvPr>
        </p:nvSpPr>
        <p:spPr>
          <a:xfrm>
            <a:off x="488732" y="1266496"/>
            <a:ext cx="11303876" cy="6248400"/>
          </a:xfrm>
        </p:spPr>
        <p:txBody>
          <a:bodyPr rtlCol="0">
            <a:normAutofit/>
          </a:bodyPr>
          <a:lstStyle/>
          <a:p>
            <a:pPr marL="0" indent="0" algn="ctr">
              <a:lnSpc>
                <a:spcPts val="37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alt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alt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alt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alt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alt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alt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Việt</a:t>
            </a:r>
            <a:r>
              <a:rPr lang="en-US" alt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Nam</a:t>
            </a:r>
          </a:p>
          <a:p>
            <a:pPr algn="just">
              <a:lnSpc>
                <a:spcPts val="37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en-US" sz="2600" b="1" i="1" dirty="0">
                <a:solidFill>
                  <a:srgbClr val="FF0000"/>
                </a:solidFill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TKQĐ</a:t>
            </a:r>
            <a:r>
              <a:rPr lang="en-US" altLang="en-US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altLang="en-US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khăn</a:t>
            </a:r>
            <a:r>
              <a:rPr lang="en-US" altLang="en-US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lâu</a:t>
            </a:r>
            <a:r>
              <a:rPr lang="en-US" altLang="en-US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altLang="en-US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altLang="en-US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endParaRPr lang="en-US" altLang="en-US" b="1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37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altLang="en-US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CNTB”: </a:t>
            </a:r>
            <a:r>
              <a:rPr lang="en-US" altLang="en-US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en-US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altLang="en-US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altLang="en-US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en-US" altLang="en-US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altLang="en-US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altLang="en-US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altLang="en-US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en-US" altLang="en-US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altLang="en-US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”?</a:t>
            </a:r>
          </a:p>
          <a:p>
            <a:pPr algn="just">
              <a:lnSpc>
                <a:spcPts val="37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thượng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TBCN (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?). </a:t>
            </a:r>
            <a:endParaRPr lang="en-US" altLang="en-US" sz="2600" b="1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37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thừa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tựu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TBCN,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LLSX,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IX - 2001)</a:t>
            </a:r>
          </a:p>
          <a:p>
            <a:pPr marL="182880" indent="-182880" algn="just">
              <a:lnSpc>
                <a:spcPts val="3300"/>
              </a:lnSpc>
              <a:buNone/>
              <a:defRPr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just">
              <a:lnSpc>
                <a:spcPts val="4300"/>
              </a:lnSpc>
              <a:buNone/>
              <a:defRPr/>
            </a:pPr>
            <a:endParaRPr lang="en-US" altLang="en-US" dirty="0"/>
          </a:p>
          <a:p>
            <a:pPr marL="182880" indent="-182880" algn="just">
              <a:lnSpc>
                <a:spcPts val="4300"/>
              </a:lnSpc>
              <a:defRPr/>
            </a:pPr>
            <a:endParaRPr lang="en-US" altLang="en-US" i="1" dirty="0">
              <a:solidFill>
                <a:srgbClr val="FF0000"/>
              </a:solidFill>
            </a:endParaRPr>
          </a:p>
          <a:p>
            <a:pPr marL="182880" indent="-182880" algn="just">
              <a:lnSpc>
                <a:spcPct val="105000"/>
              </a:lnSpc>
              <a:spcBef>
                <a:spcPct val="30000"/>
              </a:spcBef>
              <a:defRPr/>
            </a:pPr>
            <a:endParaRPr lang="en-US" altLang="en-US" b="1" dirty="0">
              <a:solidFill>
                <a:srgbClr val="FFFF00"/>
              </a:solidFill>
            </a:endParaRPr>
          </a:p>
          <a:p>
            <a:pPr marL="182880" indent="-182880" algn="just">
              <a:lnSpc>
                <a:spcPct val="105000"/>
              </a:lnSpc>
              <a:spcBef>
                <a:spcPct val="30000"/>
              </a:spcBef>
              <a:buNone/>
              <a:defRPr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394238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94934" y="324570"/>
            <a:ext cx="11335407" cy="6400800"/>
          </a:xfrm>
        </p:spPr>
        <p:txBody>
          <a:bodyPr>
            <a:normAutofit fontScale="92500"/>
          </a:bodyPr>
          <a:lstStyle/>
          <a:p>
            <a:pPr algn="ctr">
              <a:lnSpc>
                <a:spcPts val="37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altLang="en-US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TKQĐ:</a:t>
            </a:r>
            <a:endParaRPr lang="en-US" alt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v"/>
              <a:defRPr/>
            </a:pPr>
            <a:r>
              <a:rPr lang="en-US" altLang="en-US" b="1" i="1" dirty="0">
                <a:solidFill>
                  <a:srgbClr val="7030A0"/>
                </a:solidFill>
              </a:rPr>
              <a:t> </a:t>
            </a:r>
            <a:r>
              <a:rPr lang="en-US" alt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“4 </a:t>
            </a:r>
            <a:r>
              <a:rPr lang="en-US" altLang="en-US" sz="3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trụ</a:t>
            </a:r>
            <a:r>
              <a:rPr lang="en-US" alt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cột</a:t>
            </a:r>
            <a:r>
              <a:rPr lang="en-US" alt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altLang="en-US" sz="3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alt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alt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 eaLnBrk="1" hangingPunct="1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ü"/>
              <a:defRPr/>
            </a:pP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KT-XH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trung</a:t>
            </a:r>
            <a:r>
              <a:rPr lang="en-US" altLang="en-US" sz="3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tâm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 eaLnBrk="1" hangingPunct="1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ü"/>
              <a:defRPr/>
            </a:pP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Đảng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then </a:t>
            </a:r>
            <a:r>
              <a:rPr lang="en-US" altLang="en-US" sz="3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chốt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 eaLnBrk="1" hangingPunct="1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ü"/>
              <a:defRPr/>
            </a:pP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văn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con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nền</a:t>
            </a:r>
            <a:r>
              <a:rPr lang="en-US" altLang="en-US" sz="3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tảng</a:t>
            </a:r>
            <a:r>
              <a:rPr lang="en-US" altLang="en-US" sz="3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tinh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thần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ü"/>
              <a:defRPr/>
            </a:pP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Củng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cố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quốc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phòng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an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ninh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nhiệm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vụ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trọng</a:t>
            </a:r>
            <a:r>
              <a:rPr lang="en-US" altLang="en-US" sz="3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yếu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thường</a:t>
            </a:r>
            <a:r>
              <a:rPr lang="en-US" altLang="en-US" sz="3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xuyên</a:t>
            </a:r>
            <a:r>
              <a:rPr lang="en-US" altLang="en-US" sz="3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v"/>
              <a:defRPr/>
            </a:pPr>
            <a:r>
              <a:rPr lang="en-US" altLang="en-US" sz="3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“3 </a:t>
            </a:r>
            <a:r>
              <a:rPr lang="en-US" altLang="en-US" sz="3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khâu</a:t>
            </a:r>
            <a:r>
              <a:rPr lang="en-US" altLang="en-US" sz="3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đột</a:t>
            </a:r>
            <a:r>
              <a:rPr lang="en-US" altLang="en-US" sz="3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phá</a:t>
            </a:r>
            <a:r>
              <a:rPr lang="en-US" alt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”:</a:t>
            </a:r>
          </a:p>
          <a:p>
            <a:pPr algn="just" eaLnBrk="1" hangingPunct="1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ü"/>
              <a:defRPr/>
            </a:pP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thiện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chế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KTTT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XHCN.</a:t>
            </a:r>
          </a:p>
          <a:p>
            <a:pPr algn="just" eaLnBrk="1" hangingPunct="1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ü"/>
              <a:defRPr/>
            </a:pP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lực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altLang="en-US" sz="3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altLang="en-US" sz="3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cao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 eaLnBrk="1" hangingPunct="1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ü"/>
              <a:defRPr/>
            </a:pP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cấu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hạ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tầng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altLang="en-US" sz="3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30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altLang="en-US" sz="3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10000"/>
              </a:lnSpc>
              <a:spcBef>
                <a:spcPct val="30000"/>
              </a:spcBef>
              <a:buNone/>
              <a:defRPr/>
            </a:pPr>
            <a:endParaRPr lang="en-US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242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04858" y="6240236"/>
            <a:ext cx="2747342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3AE87D3-E63F-4F86-B230-98E8A536F44B}" type="slidenum">
              <a:rPr lang="en-US">
                <a:latin typeface=".VnTime" panose="020B7200000000000000" pitchFamily="34" charset="0"/>
              </a:rPr>
              <a:pPr eaLnBrk="1" hangingPunct="1"/>
              <a:t>18</a:t>
            </a:fld>
            <a:endParaRPr lang="en-US">
              <a:latin typeface=".VnTime" panose="020B7200000000000000" pitchFamily="34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41086"/>
            <a:ext cx="10729310" cy="8382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vi-VN" sz="30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3</a:t>
            </a:r>
            <a:r>
              <a:rPr lang="en-US" sz="30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.3</a:t>
            </a:r>
            <a:r>
              <a:rPr lang="vi-VN" sz="30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.</a:t>
            </a:r>
            <a:r>
              <a:rPr lang="en-US" sz="30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2</a:t>
            </a:r>
            <a:r>
              <a:rPr lang="vi-VN" sz="30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.</a:t>
            </a:r>
            <a:r>
              <a:rPr lang="en-US" sz="30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vi-VN" sz="30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Những đặc trưng của </a:t>
            </a:r>
            <a:r>
              <a:rPr lang="en-US" sz="30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CNXH</a:t>
            </a:r>
            <a:r>
              <a:rPr lang="vi-VN" sz="30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 và phương hướng</a:t>
            </a:r>
            <a:r>
              <a:rPr lang="en-US" sz="30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xây</a:t>
            </a:r>
            <a:r>
              <a:rPr lang="en-US" sz="30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dựng</a:t>
            </a:r>
            <a:r>
              <a:rPr lang="en-US" sz="30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 CNXH ở </a:t>
            </a:r>
            <a:r>
              <a:rPr lang="en-US" sz="3000" b="1" dirty="0" err="1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Việt</a:t>
            </a:r>
            <a:r>
              <a:rPr lang="en-US" sz="30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 Nam</a:t>
            </a:r>
            <a:r>
              <a:rPr lang="vi-VN" sz="30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 hiện nay</a:t>
            </a:r>
            <a:endParaRPr lang="en-US" sz="3000" b="1" dirty="0">
              <a:solidFill>
                <a:srgbClr val="FF0000"/>
              </a:solidFill>
              <a:latin typeface="Time New Roman"/>
              <a:cs typeface="Arial" panose="020B0604020202020204" pitchFamily="34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32912" y="1066409"/>
            <a:ext cx="11763047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ts val="4000"/>
              </a:lnSpc>
            </a:pPr>
            <a:r>
              <a:rPr lang="en-US" sz="28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Đ</a:t>
            </a:r>
            <a:r>
              <a:rPr lang="vi-VN" sz="28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ặc trưng của </a:t>
            </a:r>
            <a:r>
              <a:rPr lang="en-US" sz="28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CNXH ở </a:t>
            </a:r>
            <a:r>
              <a:rPr lang="en-US" sz="2800" b="1" dirty="0" err="1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Việt</a:t>
            </a:r>
            <a:r>
              <a:rPr lang="en-US" sz="28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 Nam</a:t>
            </a:r>
            <a:r>
              <a:rPr lang="vi-VN" sz="2800" b="1" dirty="0">
                <a:solidFill>
                  <a:srgbClr val="FF0000"/>
                </a:solidFill>
                <a:latin typeface="Time New Roman"/>
                <a:cs typeface="Arial" panose="020B0604020202020204" pitchFamily="34" charset="0"/>
              </a:rPr>
              <a:t> </a:t>
            </a:r>
            <a:endParaRPr lang="en-US" altLang="en-US" sz="2500" b="1" dirty="0">
              <a:solidFill>
                <a:srgbClr val="002060"/>
              </a:solidFill>
              <a:latin typeface="Time New Roman"/>
              <a:cs typeface="Times New Roman" panose="02020603050405020304" pitchFamily="18" charset="0"/>
            </a:endParaRPr>
          </a:p>
          <a:p>
            <a:pPr algn="just">
              <a:lnSpc>
                <a:spcPts val="4000"/>
              </a:lnSpc>
              <a:buFontTx/>
              <a:buAutoNum type="arabicPeriod"/>
            </a:pP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Dân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giàu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,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Nước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mạnh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,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Dân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chủ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,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Công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bằng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,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Văn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minh </a:t>
            </a:r>
          </a:p>
          <a:p>
            <a:pPr algn="just">
              <a:lnSpc>
                <a:spcPts val="4000"/>
              </a:lnSpc>
              <a:buFontTx/>
              <a:buAutoNum type="arabicPeriod"/>
            </a:pP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Do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nhân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dân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làm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chủ</a:t>
            </a:r>
            <a:endParaRPr lang="en-US" altLang="en-US" sz="2500" b="1" dirty="0">
              <a:solidFill>
                <a:srgbClr val="002060"/>
              </a:solidFill>
              <a:latin typeface="Time New Roman"/>
              <a:cs typeface="Times New Roman" panose="02020603050405020304" pitchFamily="18" charset="0"/>
            </a:endParaRPr>
          </a:p>
          <a:p>
            <a:pPr algn="just">
              <a:lnSpc>
                <a:spcPts val="4000"/>
              </a:lnSpc>
              <a:buFontTx/>
              <a:buAutoNum type="arabicPeriod"/>
            </a:pP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Có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nền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KT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phát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triển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cao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dựa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trên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LLSX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hiện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đại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và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QHSX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tiến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bộ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,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phù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hợp</a:t>
            </a:r>
            <a:endParaRPr lang="en-US" altLang="en-US" sz="2500" b="1" dirty="0">
              <a:solidFill>
                <a:srgbClr val="002060"/>
              </a:solidFill>
              <a:latin typeface="Time New Roman"/>
              <a:cs typeface="Times New Roman" panose="02020603050405020304" pitchFamily="18" charset="0"/>
            </a:endParaRPr>
          </a:p>
          <a:p>
            <a:pPr algn="just">
              <a:lnSpc>
                <a:spcPts val="4000"/>
              </a:lnSpc>
              <a:buFontTx/>
              <a:buAutoNum type="arabicPeriod"/>
            </a:pP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Có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nền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văn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hóa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tiên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tiến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,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đậm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đà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bản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sắc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dân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tộc</a:t>
            </a:r>
            <a:endParaRPr lang="en-US" altLang="en-US" sz="2500" b="1" dirty="0">
              <a:solidFill>
                <a:srgbClr val="002060"/>
              </a:solidFill>
              <a:latin typeface="Time New Roman"/>
              <a:cs typeface="Times New Roman" panose="02020603050405020304" pitchFamily="18" charset="0"/>
            </a:endParaRPr>
          </a:p>
          <a:p>
            <a:pPr algn="just">
              <a:lnSpc>
                <a:spcPts val="4000"/>
              </a:lnSpc>
              <a:buFontTx/>
              <a:buAutoNum type="arabicPeriod"/>
            </a:pP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Con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người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có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cuộc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sống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ấm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no,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tự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do, HP,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có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điều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kiện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PT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toàn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diện</a:t>
            </a:r>
            <a:endParaRPr lang="en-US" altLang="en-US" sz="2500" b="1" dirty="0">
              <a:solidFill>
                <a:srgbClr val="002060"/>
              </a:solidFill>
              <a:latin typeface="Time New Roman"/>
              <a:cs typeface="Times New Roman" panose="02020603050405020304" pitchFamily="18" charset="0"/>
            </a:endParaRPr>
          </a:p>
          <a:p>
            <a:pPr algn="just">
              <a:lnSpc>
                <a:spcPts val="4000"/>
              </a:lnSpc>
              <a:buFontTx/>
              <a:buAutoNum type="arabicPeriod"/>
            </a:pP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Các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DT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bình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đẳng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,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đoàn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kết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,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tôn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trọng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giúp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nhau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cùng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phát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triển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ts val="4000"/>
              </a:lnSpc>
              <a:buFontTx/>
              <a:buAutoNum type="arabicPeriod"/>
            </a:pP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Có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NNPQ XHCN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của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ND, do ND,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vì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ND do ĐCS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lãnh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đạo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ts val="4000"/>
              </a:lnSpc>
              <a:buFontTx/>
              <a:buAutoNum type="arabicPeriod"/>
            </a:pP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Có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quan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hệ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hữu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nghị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,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hợp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tác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với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các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nước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</a:t>
            </a:r>
            <a:r>
              <a:rPr lang="en-US" altLang="en-US" sz="2500" b="1" dirty="0" err="1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trên</a:t>
            </a:r>
            <a:r>
              <a:rPr lang="en-US" altLang="en-US" sz="2500" b="1" dirty="0">
                <a:solidFill>
                  <a:srgbClr val="002060"/>
                </a:solidFill>
                <a:latin typeface="Time New Roman"/>
                <a:cs typeface="Times New Roman" panose="02020603050405020304" pitchFamily="18" charset="0"/>
              </a:rPr>
              <a:t> TG</a:t>
            </a:r>
          </a:p>
          <a:p>
            <a:pPr algn="just">
              <a:lnSpc>
                <a:spcPts val="3800"/>
              </a:lnSpc>
              <a:buFont typeface="Arial" panose="020B0604020202020204" pitchFamily="34" charset="0"/>
              <a:buAutoNum type="arabicParenBoth"/>
            </a:pPr>
            <a:endParaRPr lang="en-US" altLang="en-US" sz="2400" b="1" i="1" dirty="0">
              <a:solidFill>
                <a:srgbClr val="7030A0"/>
              </a:solidFill>
              <a:latin typeface="Time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18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322838" y="407773"/>
            <a:ext cx="11508827" cy="6705600"/>
          </a:xfrm>
        </p:spPr>
        <p:txBody>
          <a:bodyPr rtlCol="0">
            <a:normAutofit/>
          </a:bodyPr>
          <a:lstStyle/>
          <a:p>
            <a:pPr marL="109728" indent="0" algn="ctr">
              <a:lnSpc>
                <a:spcPts val="4200"/>
              </a:lnSpc>
              <a:spcBef>
                <a:spcPts val="1200"/>
              </a:spcBef>
              <a:buClr>
                <a:schemeClr val="accent3"/>
              </a:buClr>
              <a:buNone/>
              <a:defRPr/>
            </a:pPr>
            <a:r>
              <a:rPr 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biện</a:t>
            </a:r>
            <a:r>
              <a:rPr 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CNXH</a:t>
            </a:r>
          </a:p>
          <a:p>
            <a:pPr marL="109728" indent="0" algn="ctr">
              <a:lnSpc>
                <a:spcPts val="4200"/>
              </a:lnSpc>
              <a:spcBef>
                <a:spcPts val="1200"/>
              </a:spcBef>
              <a:buClr>
                <a:schemeClr val="accent3"/>
              </a:buClr>
              <a:buNone/>
              <a:defRPr/>
            </a:pPr>
            <a:r>
              <a:rPr 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TKQĐ </a:t>
            </a:r>
            <a:r>
              <a:rPr 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CNXH</a:t>
            </a:r>
          </a:p>
          <a:p>
            <a:pPr marL="109537" indent="0" algn="just">
              <a:lnSpc>
                <a:spcPts val="4100"/>
              </a:lnSpc>
              <a:spcBef>
                <a:spcPts val="600"/>
              </a:spcBef>
              <a:buClr>
                <a:schemeClr val="accent3"/>
              </a:buClr>
              <a:buNone/>
              <a:defRPr/>
            </a:pPr>
            <a:r>
              <a:rPr lang="nl-NL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1. Đ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ẩy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mạnh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CNH, HĐH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đất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nước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gắn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kinh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tế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tri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bảo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vệ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tài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môi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109537" indent="0" algn="just">
              <a:lnSpc>
                <a:spcPts val="4100"/>
              </a:lnSpc>
              <a:spcBef>
                <a:spcPts val="600"/>
              </a:spcBef>
              <a:buClr>
                <a:schemeClr val="accent3"/>
              </a:buClr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nền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kinh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tế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XHCN. </a:t>
            </a:r>
          </a:p>
          <a:p>
            <a:pPr marL="109537" indent="0" algn="just">
              <a:lnSpc>
                <a:spcPts val="4100"/>
              </a:lnSpc>
              <a:spcBef>
                <a:spcPts val="600"/>
              </a:spcBef>
              <a:buClr>
                <a:schemeClr val="accent3"/>
              </a:buClr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nền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văn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hoá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tiên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tiến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đậm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đà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sắc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dân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tộc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nâng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cao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đời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sống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dân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tiến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109537" indent="0" algn="just">
              <a:lnSpc>
                <a:spcPts val="4100"/>
              </a:lnSpc>
              <a:spcBef>
                <a:spcPts val="600"/>
              </a:spcBef>
              <a:buClr>
                <a:schemeClr val="accent3"/>
              </a:buClr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Bảo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đảm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vững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chắc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quốc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phòng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an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ninh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quốc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gia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trật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an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623887" indent="-514350" algn="just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+mj-lt"/>
              <a:buAutoNum type="arabicPeriod"/>
              <a:defRPr/>
            </a:pP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623887" indent="-51435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+mj-lt"/>
              <a:buAutoNum type="arabicPeriod"/>
              <a:defRPr/>
            </a:pPr>
            <a:endParaRPr lang="en-US" b="1" dirty="0">
              <a:solidFill>
                <a:srgbClr val="002060"/>
              </a:solidFill>
            </a:endParaRPr>
          </a:p>
          <a:p>
            <a:pPr marL="365760" indent="-256032" algn="just">
              <a:lnSpc>
                <a:spcPts val="3600"/>
              </a:lnSpc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03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567559" y="381000"/>
            <a:ext cx="11256579" cy="6248400"/>
          </a:xfrm>
        </p:spPr>
        <p:txBody>
          <a:bodyPr rtlCol="0">
            <a:normAutofit/>
          </a:bodyPr>
          <a:lstStyle/>
          <a:p>
            <a:pPr marL="109728" indent="0" algn="ctr">
              <a:lnSpc>
                <a:spcPts val="4200"/>
              </a:lnSpc>
              <a:spcBef>
                <a:spcPts val="1200"/>
              </a:spcBef>
              <a:buClr>
                <a:schemeClr val="accent3"/>
              </a:buClr>
              <a:buNone/>
              <a:defRPr/>
            </a:pPr>
            <a:r>
              <a:rPr 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biện</a:t>
            </a:r>
            <a:r>
              <a:rPr 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CNXH       </a:t>
            </a:r>
          </a:p>
          <a:p>
            <a:pPr marL="109728" indent="0" algn="ctr">
              <a:lnSpc>
                <a:spcPts val="4200"/>
              </a:lnSpc>
              <a:spcBef>
                <a:spcPts val="1200"/>
              </a:spcBef>
              <a:buClr>
                <a:schemeClr val="accent3"/>
              </a:buClr>
              <a:buNone/>
              <a:defRPr/>
            </a:pPr>
            <a:r>
              <a:rPr 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TKQĐ </a:t>
            </a:r>
            <a:r>
              <a:rPr 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CNXH…</a:t>
            </a:r>
          </a:p>
          <a:p>
            <a:pPr marL="109728" indent="0" algn="ctr">
              <a:lnSpc>
                <a:spcPts val="4200"/>
              </a:lnSpc>
              <a:spcBef>
                <a:spcPts val="1200"/>
              </a:spcBef>
              <a:buClr>
                <a:schemeClr val="accent3"/>
              </a:buClr>
              <a:buNone/>
              <a:defRPr/>
            </a:pPr>
            <a:endParaRPr lang="en-US" b="1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7" indent="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lối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ngoại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độc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lập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hoà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	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hữu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nghị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tác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cực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nhập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quốc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tế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109537" indent="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6.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nền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dân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	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đoàn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dân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tộc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tăng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cường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rộng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mặt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trận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dân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tộc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thống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109537" indent="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7.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nước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quyền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	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dân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do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dân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vì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dân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109537" indent="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8.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Đảng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sạch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vững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mạnh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623887" indent="-51435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+mj-lt"/>
              <a:buAutoNum type="arabicParenR"/>
              <a:defRPr/>
            </a:pPr>
            <a:endParaRPr lang="en-US" b="1" dirty="0">
              <a:solidFill>
                <a:srgbClr val="002060"/>
              </a:solidFill>
            </a:endParaRPr>
          </a:p>
          <a:p>
            <a:pPr marL="365760" indent="-256032" algn="just">
              <a:lnSpc>
                <a:spcPts val="3600"/>
              </a:lnSpc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42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7736</TotalTime>
  <Words>1283</Words>
  <Application>Microsoft Office PowerPoint</Application>
  <PresentationFormat>Widescreen</PresentationFormat>
  <Paragraphs>134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.VnArial</vt:lpstr>
      <vt:lpstr>.VnTime</vt:lpstr>
      <vt:lpstr>.VnVogueH</vt:lpstr>
      <vt:lpstr>Arial</vt:lpstr>
      <vt:lpstr>Calibri</vt:lpstr>
      <vt:lpstr>Calibri Light</vt:lpstr>
      <vt:lpstr>Time New Roman</vt:lpstr>
      <vt:lpstr>Times New Roman</vt:lpstr>
      <vt:lpstr>Wingdings</vt:lpstr>
      <vt:lpstr>Wingdings 2</vt:lpstr>
      <vt:lpstr>Office Theme</vt:lpstr>
      <vt:lpstr>PowerPoint Presentation</vt:lpstr>
      <vt:lpstr>PowerPoint Presentation</vt:lpstr>
      <vt:lpstr>NỘI DUNG </vt:lpstr>
      <vt:lpstr>PowerPoint Presentation</vt:lpstr>
      <vt:lpstr>3.1.1. CNXH, giai đoạn đầu của hình thái  KT – XH Cộng sản chủ nghĩa</vt:lpstr>
      <vt:lpstr>PowerPoint Presentation</vt:lpstr>
      <vt:lpstr>3.1.2. Điều kiện ra đời chủ nghĩa xã hội</vt:lpstr>
      <vt:lpstr>3.1.3. Những đặc trưng cơ bản của CNXH</vt:lpstr>
      <vt:lpstr>3.2. THỜI KỲ QUÁ ĐỘ LÊN CNXH</vt:lpstr>
      <vt:lpstr>PowerPoint Presentation</vt:lpstr>
      <vt:lpstr>3.2.2. Đặc điểm của TKQĐ lên CNXH</vt:lpstr>
      <vt:lpstr>PowerPoint Presentation</vt:lpstr>
      <vt:lpstr>PowerPoint Presentation</vt:lpstr>
      <vt:lpstr>3.3. QUÁ ĐỘ LÊN CNXH Ở VIỆT NAM  </vt:lpstr>
      <vt:lpstr>PowerPoint Presentation</vt:lpstr>
      <vt:lpstr>PowerPoint Presentation</vt:lpstr>
      <vt:lpstr>PowerPoint Presentation</vt:lpstr>
      <vt:lpstr>3.3.2. Những đặc trưng của CNXH và phương hướng xây dựng CNXH ở Việt Nam hiện nay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Toan Le</dc:creator>
  <cp:lastModifiedBy>Admin</cp:lastModifiedBy>
  <cp:revision>137</cp:revision>
  <dcterms:created xsi:type="dcterms:W3CDTF">2020-07-15T05:19:11Z</dcterms:created>
  <dcterms:modified xsi:type="dcterms:W3CDTF">2026-01-26T03:10:57Z</dcterms:modified>
</cp:coreProperties>
</file>