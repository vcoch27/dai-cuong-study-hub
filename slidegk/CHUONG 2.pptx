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04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59" autoAdjust="0"/>
    <p:restoredTop sz="89747"/>
  </p:normalViewPr>
  <p:slideViewPr>
    <p:cSldViewPr snapToGrid="0">
      <p:cViewPr varScale="1">
        <p:scale>
          <a:sx n="58" d="100"/>
          <a:sy n="58" d="100"/>
        </p:scale>
        <p:origin x="65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198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390029-2981-48AB-BCDE-E7B99F69AC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13EAA-E463-473E-8FA5-416C0BEB43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3E5DD-FE26-4A43-9FC2-607ACF25AE17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E6E36-07C1-47E7-BC3C-45180E8E8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53305-BBEE-4DEA-9540-C6AC9C870C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794F4-726C-4777-8F27-19A841922A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91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2EB55-B567-2D4C-B847-F70BF368BAE2}" type="datetimeFigureOut">
              <a:rPr lang="x-none" smtClean="0"/>
              <a:t>1/12/2026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67767-766C-FF4A-8F17-25D8402747F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3080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E262-AC4C-4B7A-ADC6-6007ED918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112F4-D35C-410B-91EC-4FE6F7195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324D-0446-4F16-A839-924D8A2B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54977-E08A-F047-B9A4-96BB2876FE7A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3E383-08A0-4BDF-80F9-577BE740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EA5BC-C7FE-4425-A443-77275EF6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49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4980-BF35-4A49-8D81-AECE263785E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95748-6D0C-4A53-BC50-FC1E202E0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07337-B443-4BD0-825C-61BF83FC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8D3B-C041-D345-B852-EBDD35A0CDF9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36922-3BFD-4B83-93D2-3A49A46E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08070-017C-4F44-BFFD-FC98AD5A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45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1804-498D-4E69-AD37-B628C2FB9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426D9-177C-42CA-B5AA-189C9CD42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EABB9-4F57-4FAF-B7E5-86EB16420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367B-55C7-D442-AE09-C8367E30978A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093DB-344E-4593-9A83-11B6874F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BE9DB-5A83-447B-B009-31608127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477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E839-DE65-4CAB-B3CE-B6787730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086A7-4BC5-4570-AE26-D8AA1652F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88F1F-9CC7-4106-8C68-BF579089D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88B53-A651-4336-B770-344B1E20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EA2B-7E3B-3B47-8BCF-32328E684FC6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CF91C-C248-4A8B-A893-7F52D55A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278CD-1478-4D00-B646-CC9F4D61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69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7060-DFDF-4549-B5F1-5947FAE2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F5FE2-55FC-44E0-9092-5B885706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35F6A-63D9-4832-80CC-384284522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F4741-D763-4DC6-B7E9-6EB3D9A4C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A4651-74F8-47BD-B89F-4F9C08501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A191C2-CE7E-48BF-97CF-289362B6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53C5A-607A-5A4B-AF70-505EBF7DC59B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C2448-1BCA-4E45-939A-A3528F1F3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8526AD-4B2F-4F99-9EED-6B6199E3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00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6D6A-5EDF-4047-9E54-4728D150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855F7-40C2-4B53-87CF-0DB6BBE3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F784-253D-B648-8E48-70B093E81C4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971A-6A7E-47DC-9043-B082EA5A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227C2-5BF9-4B9A-84BC-BFF9DA42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33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45176-22FF-4961-8952-A67A54CB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B58A-2C6E-4A45-9DC6-6BBD59CECD5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15661-A99E-49FD-BA38-7F267735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59D72-3A2F-495E-8B2C-3A7EEEE14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7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4A89-3D7B-42B4-9E6E-F3149D8D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0B0C-FF1F-413C-92E3-F557F43BD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98F7E-248C-4F47-AC0E-AAE1C7610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552F0-2AC8-4BCB-9F52-0BBC85EF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68E8-D6EE-0D44-8F38-DB52A9F37FF2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74349-E594-4DF3-B059-2B4269B1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33C74-FB69-48DA-B2A7-F8BD6DF1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131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9F0D-C54A-4FDC-B3DC-DAD517F4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B7E17-F590-46EA-B1D1-F719E9727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D0057-40C6-42C4-BDAC-F64C3D26E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F7D14-3148-4C96-95A6-EDADD311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B974-810E-5348-BF8B-8BC7BF2D3C52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E2927-EBDB-4128-8B13-B2D4DDFC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23B5A-4E7E-4DB2-AFC0-3F36C12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4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63F9-EA5C-486C-A37E-D7713527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67F49-C68D-462B-87CB-8F67E37CA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95383-E7C3-4CB5-80AA-C610D683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B2D7-D800-674A-B364-511F3631DE4B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59819-1C43-48D9-B06D-128C5DD6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24824-5F31-4078-9A59-E89EDEBF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81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09853-61E0-4390-8E9F-80EC16364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1FD2A-5714-4A54-AC83-4D08E66B3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4179-3DE8-484B-BB9C-6FB8FF4B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314-96EC-3C4F-9EED-E697FF5FE31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F180E-CEC1-4CC3-88B7-9723E5DF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EB187-43D3-484D-8653-C7F38371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8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EDDC8-ED0E-42EA-81CC-C9B6D0A2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89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9F308-4027-4851-80A5-ABE205ADC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1F55B-C12D-4D57-996A-0274816C1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2470D-C782-9243-A888-6ED3A50C53F3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42E5-BC5E-4CE5-B510-5F3E77AF2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3D7B0-FAB5-4C79-BEC0-D607420B6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9372" y="-20370"/>
            <a:ext cx="108517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1875" r="79744" b="81688"/>
          <a:stretch/>
        </p:blipFill>
        <p:spPr bwMode="auto">
          <a:xfrm>
            <a:off x="10488705" y="-20370"/>
            <a:ext cx="802443" cy="487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9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1</a:t>
            </a:fld>
            <a:endParaRPr lang="en-US" dirty="0"/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1875" r="15080" b="79167"/>
          <a:stretch/>
        </p:blipFill>
        <p:spPr bwMode="auto">
          <a:xfrm>
            <a:off x="609600" y="-15241"/>
            <a:ext cx="11033760" cy="1472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karlMarx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77978"/>
            <a:ext cx="6096000" cy="3880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 descr="十月革命 副本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2977978"/>
            <a:ext cx="6096000" cy="3880022"/>
          </a:xfrm>
          <a:prstGeom prst="rect">
            <a:avLst/>
          </a:prstGeom>
          <a:noFill/>
          <a:ln w="38100">
            <a:solidFill>
              <a:srgbClr val="993300"/>
            </a:solidFill>
            <a:miter lim="800000"/>
            <a:headEnd/>
            <a:tailEnd/>
          </a:ln>
        </p:spPr>
      </p:pic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411523" y="912055"/>
            <a:ext cx="91440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0" latinLnBrk="0" hangingPunct="0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00FF00"/>
                </a:solidFill>
                <a:latin typeface=".VnArial" panose="020B7200000000000000" pitchFamily="34" charset="0"/>
                <a:ea typeface="+mj-ea"/>
                <a:cs typeface="+mj-cs"/>
              </a:defRPr>
            </a:lvl1pPr>
            <a:lvl2pPr marL="742950" indent="-285750" eaLnBrk="0" hangingPunct="0"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2pPr>
            <a:lvl3pPr marL="1143000" indent="-228600" eaLnBrk="0" hangingPunct="0"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3pPr>
            <a:lvl4pPr marL="1600200" indent="-228600" eaLnBrk="0" hangingPunct="0"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4pPr>
            <a:lvl5pPr marL="2057400" indent="-228600" eaLnBrk="0" hangingPunct="0"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FF00"/>
                </a:solidFill>
                <a:latin typeface=".VnArial" panose="020B7200000000000000" pitchFamily="34" charset="0"/>
              </a:defRPr>
            </a:lvl9pPr>
          </a:lstStyle>
          <a:p>
            <a:pPr algn="ctr" eaLnBrk="1" hangingPunct="1">
              <a:spcBef>
                <a:spcPts val="1200"/>
              </a:spcBef>
            </a:pPr>
            <a:r>
              <a:rPr lang="en-US" altLang="en-US" sz="4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NGHĨA XÃ HỘI KHOA HỌC</a:t>
            </a:r>
          </a:p>
        </p:txBody>
      </p:sp>
    </p:spTree>
    <p:extLst>
      <p:ext uri="{BB962C8B-B14F-4D97-AF65-F5344CB8AC3E}">
        <p14:creationId xmlns:p14="http://schemas.microsoft.com/office/powerpoint/2010/main" val="151433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9"/>
          <p:cNvSpPr>
            <a:spLocks noGrp="1" noChangeArrowheads="1"/>
          </p:cNvSpPr>
          <p:nvPr>
            <p:ph idx="1"/>
          </p:nvPr>
        </p:nvSpPr>
        <p:spPr>
          <a:xfrm>
            <a:off x="157655" y="953530"/>
            <a:ext cx="11650717" cy="4267200"/>
          </a:xfrm>
        </p:spPr>
        <p:txBody>
          <a:bodyPr rtlCol="0">
            <a:normAutofit/>
          </a:bodyPr>
          <a:lstStyle/>
          <a:p>
            <a:pPr algn="ctr">
              <a:buNone/>
              <a:defRPr/>
            </a:pPr>
            <a:endParaRPr lang="en-US" altLang="en-US" sz="4000" dirty="0">
              <a:solidFill>
                <a:srgbClr val="0000CC"/>
              </a:solidFill>
              <a:latin typeface="Times New Roman (Headings)"/>
            </a:endParaRPr>
          </a:p>
          <a:p>
            <a:pPr algn="ctr">
              <a:buNone/>
              <a:defRPr/>
            </a:pPr>
            <a:r>
              <a:rPr lang="en-US" altLang="en-US" sz="4000" b="1" i="1" dirty="0" err="1">
                <a:solidFill>
                  <a:srgbClr val="0000CC"/>
                </a:solidFill>
                <a:latin typeface="Times New Roman (Headings)"/>
                <a:cs typeface="Times New Roman" pitchFamily="18" charset="0"/>
              </a:rPr>
              <a:t>Chương</a:t>
            </a:r>
            <a:r>
              <a:rPr lang="en-US" altLang="en-US" sz="4000" b="1" i="1" dirty="0">
                <a:solidFill>
                  <a:srgbClr val="0000CC"/>
                </a:solidFill>
                <a:latin typeface="Times New Roman (Headings)"/>
                <a:cs typeface="Times New Roman" pitchFamily="18" charset="0"/>
              </a:rPr>
              <a:t> 2 </a:t>
            </a:r>
          </a:p>
          <a:p>
            <a:pPr marL="0" indent="0" algn="ctr">
              <a:lnSpc>
                <a:spcPts val="3600"/>
              </a:lnSpc>
              <a:spcBef>
                <a:spcPts val="600"/>
              </a:spcBef>
              <a:buNone/>
              <a:defRPr/>
            </a:pPr>
            <a:endParaRPr lang="en-US" sz="4000" b="1" dirty="0">
              <a:solidFill>
                <a:srgbClr val="FF0000"/>
              </a:solidFill>
              <a:latin typeface="Times New Roman (Headings)"/>
              <a:cs typeface="Times New Roman" panose="02020603050405020304" pitchFamily="18" charset="0"/>
            </a:endParaRPr>
          </a:p>
          <a:p>
            <a:pPr marL="0" indent="0" algn="ctr">
              <a:lnSpc>
                <a:spcPts val="3600"/>
              </a:lnSpc>
              <a:spcBef>
                <a:spcPts val="600"/>
              </a:spcBef>
              <a:buNone/>
              <a:defRPr/>
            </a:pPr>
            <a:r>
              <a:rPr lang="en-US" sz="4000" b="1" dirty="0">
                <a:solidFill>
                  <a:srgbClr val="FF0000"/>
                </a:solidFill>
                <a:latin typeface="Times New Roman (Headings)"/>
                <a:cs typeface="Times New Roman" panose="02020603050405020304" pitchFamily="18" charset="0"/>
              </a:rPr>
              <a:t>SỨ MỆNH LỊCH SỬ </a:t>
            </a:r>
          </a:p>
          <a:p>
            <a:pPr marL="0" indent="0" algn="ctr">
              <a:lnSpc>
                <a:spcPts val="3600"/>
              </a:lnSpc>
              <a:spcBef>
                <a:spcPts val="600"/>
              </a:spcBef>
              <a:buNone/>
              <a:defRPr/>
            </a:pPr>
            <a:r>
              <a:rPr lang="en-US" sz="4000" b="1" dirty="0">
                <a:solidFill>
                  <a:srgbClr val="FF0000"/>
                </a:solidFill>
                <a:latin typeface="Times New Roman (Headings)"/>
                <a:cs typeface="Times New Roman" panose="02020603050405020304" pitchFamily="18" charset="0"/>
              </a:rPr>
              <a:t>CỦA GIAI CẤP CÔNG NHÂN </a:t>
            </a:r>
          </a:p>
          <a:p>
            <a:pPr marL="0" indent="0" algn="ctr">
              <a:lnSpc>
                <a:spcPts val="4200"/>
              </a:lnSpc>
              <a:spcBef>
                <a:spcPts val="1200"/>
              </a:spcBef>
              <a:buNone/>
              <a:defRPr/>
            </a:pPr>
            <a:endParaRPr lang="en-US" altLang="en-US" sz="4000" b="1" i="1" dirty="0">
              <a:solidFill>
                <a:srgbClr val="0000CC"/>
              </a:solidFill>
              <a:latin typeface="Times New Roman (Headings)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B50571B-B68E-422E-AD40-66922E7AE7D5}" type="slidenum">
              <a:rPr lang="en-US">
                <a:latin typeface=".VnTime" panose="020B7200000000000000" pitchFamily="34" charset="0"/>
              </a:rPr>
              <a:pPr eaLnBrk="1" hangingPunct="1"/>
              <a:t>2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3505200" y="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400">
              <a:solidFill>
                <a:srgbClr val="00FF00"/>
              </a:solidFill>
              <a:latin typeface=".VnArial" panose="020B72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2515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76A5C3-C435-4E4E-8C86-B33E01EBEB92}" type="slidenum">
              <a:rPr lang="en-US">
                <a:latin typeface=".VnTime" panose="020B7200000000000000" pitchFamily="34" charset="0"/>
              </a:rPr>
              <a:pPr eaLnBrk="1" hangingPunct="1"/>
              <a:t>3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8229600" cy="914400"/>
          </a:xfrm>
        </p:spPr>
        <p:txBody>
          <a:bodyPr/>
          <a:lstStyle/>
          <a:p>
            <a:pPr eaLnBrk="1" hangingPunct="1"/>
            <a:r>
              <a:rPr lang="en-US" sz="3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</a:t>
            </a:r>
            <a:r>
              <a:rPr 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6386" y="1447801"/>
            <a:ext cx="11051628" cy="4602163"/>
          </a:xfrm>
        </p:spPr>
        <p:txBody>
          <a:bodyPr/>
          <a:lstStyle/>
          <a:p>
            <a:pPr marL="0" indent="0" algn="just">
              <a:lnSpc>
                <a:spcPts val="51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Lênin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SMLS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</a:t>
            </a:r>
          </a:p>
          <a:p>
            <a:pPr marL="0" indent="0" algn="just">
              <a:lnSpc>
                <a:spcPts val="51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 GCCN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SMLS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  <a:p>
            <a:pPr marL="0" indent="0" algn="just">
              <a:lnSpc>
                <a:spcPts val="51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2.3.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Việt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</a:t>
            </a:r>
          </a:p>
        </p:txBody>
      </p:sp>
    </p:spTree>
    <p:extLst>
      <p:ext uri="{BB962C8B-B14F-4D97-AF65-F5344CB8AC3E}">
        <p14:creationId xmlns:p14="http://schemas.microsoft.com/office/powerpoint/2010/main" val="107365271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963F2D-5868-476E-8596-B407E6FD33A9}" type="slidenum">
              <a:rPr lang="en-US">
                <a:latin typeface=".VnTime" panose="020B7200000000000000" pitchFamily="34" charset="0"/>
              </a:rPr>
              <a:pPr eaLnBrk="1" hangingPunct="1"/>
              <a:t>4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257909" y="359178"/>
            <a:ext cx="11876426" cy="1371600"/>
          </a:xfrm>
        </p:spPr>
        <p:txBody>
          <a:bodyPr>
            <a:normAutofit fontScale="90000"/>
          </a:bodyPr>
          <a:lstStyle/>
          <a:p>
            <a:pPr algn="ctr">
              <a:lnSpc>
                <a:spcPts val="5100"/>
              </a:lnSpc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Mác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Lênin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SMLS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962" y="1730778"/>
            <a:ext cx="8382000" cy="4602163"/>
          </a:xfrm>
        </p:spPr>
        <p:txBody>
          <a:bodyPr/>
          <a:lstStyle/>
          <a:p>
            <a:pPr marL="514350" indent="-514350" algn="just">
              <a:lnSpc>
                <a:spcPts val="38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2.1.1.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đặc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điểm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</a:t>
            </a:r>
          </a:p>
          <a:p>
            <a:pPr marL="514350" indent="-514350" algn="just">
              <a:lnSpc>
                <a:spcPts val="3800"/>
              </a:lnSpc>
              <a:buFontTx/>
              <a:buAutoNum type="alphaLcParenR"/>
            </a:pPr>
            <a:r>
              <a:rPr 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8962" y="2887893"/>
            <a:ext cx="11430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Giai cấp công nhân là một tập đoàn xã hội, hình thành và phát triển cùng với quá tr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ì</a:t>
            </a:r>
            <a:r>
              <a:rPr lang="vi-V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 của nền công nghiệp hiện đại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vi-V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liền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bóc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lột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thặng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phủ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29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C6CA0AF-C47F-4F41-ADF0-2D86B789B759}" type="slidenum">
              <a:rPr lang="en-US">
                <a:latin typeface=".VnTime" panose="020B7200000000000000" pitchFamily="34" charset="0"/>
              </a:rPr>
              <a:pPr eaLnBrk="1" hangingPunct="1"/>
              <a:t>5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056" y="1329436"/>
            <a:ext cx="11696580" cy="5364163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en-US" sz="30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Đặc</a:t>
            </a:r>
            <a:r>
              <a:rPr lang="en-US" sz="3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điểm</a:t>
            </a:r>
            <a:r>
              <a:rPr lang="en-US" sz="3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của</a:t>
            </a:r>
            <a:r>
              <a:rPr lang="en-US" sz="3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GCCN:</a:t>
            </a:r>
          </a:p>
          <a:p>
            <a:pPr marL="514350" indent="-514350" algn="just">
              <a:lnSpc>
                <a:spcPts val="3800"/>
              </a:lnSpc>
              <a:buFontTx/>
              <a:buChar char="-"/>
            </a:pP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Lao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động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bằng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thức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nghiệp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móc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lnSpc>
                <a:spcPts val="3800"/>
              </a:lnSpc>
              <a:buFontTx/>
              <a:buChar char="-"/>
            </a:pP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14350" indent="-514350" algn="just">
              <a:lnSpc>
                <a:spcPts val="3800"/>
              </a:lnSpc>
              <a:buFontTx/>
              <a:buChar char="-"/>
            </a:pP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chức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ky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luật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động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thần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hợp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tác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động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nghiệp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GCCN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có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thần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cách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mạng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triệt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đê</a:t>
            </a: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̉</a:t>
            </a:r>
          </a:p>
          <a:p>
            <a:pPr marL="0" indent="0" algn="just">
              <a:lnSpc>
                <a:spcPts val="3800"/>
              </a:lnSpc>
              <a:buNone/>
            </a:pPr>
            <a:endParaRPr lang="en-US" sz="30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78571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8" name="Text Box 4"/>
          <p:cNvSpPr txBox="1">
            <a:spLocks noChangeArrowheads="1"/>
          </p:cNvSpPr>
          <p:nvPr/>
        </p:nvSpPr>
        <p:spPr bwMode="auto">
          <a:xfrm>
            <a:off x="691978" y="1266568"/>
            <a:ext cx="112582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2.1.2. NỘI DUNG SỨ MỆNH LỊCH SỬ CỦA GCCN</a:t>
            </a:r>
          </a:p>
        </p:txBody>
      </p:sp>
      <p:sp>
        <p:nvSpPr>
          <p:cNvPr id="5123" name="Text Box 6"/>
          <p:cNvSpPr txBox="1">
            <a:spLocks noChangeArrowheads="1"/>
          </p:cNvSpPr>
          <p:nvPr/>
        </p:nvSpPr>
        <p:spPr bwMode="auto">
          <a:xfrm>
            <a:off x="3733800" y="1905000"/>
            <a:ext cx="4724400" cy="584200"/>
          </a:xfrm>
          <a:prstGeom prst="rect">
            <a:avLst/>
          </a:prstGeom>
          <a:solidFill>
            <a:srgbClr val="FFCC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2552" name="Text Box 8"/>
          <p:cNvSpPr txBox="1">
            <a:spLocks noChangeArrowheads="1"/>
          </p:cNvSpPr>
          <p:nvPr/>
        </p:nvSpPr>
        <p:spPr bwMode="auto">
          <a:xfrm>
            <a:off x="804040" y="3030538"/>
            <a:ext cx="10704787" cy="2349361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>
              <a:lnSpc>
                <a:spcPts val="4400"/>
              </a:lnSpc>
              <a:defRPr/>
            </a:pP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Thông qua đội tiền phong là ĐCS</a:t>
            </a:r>
            <a:r>
              <a:rPr lang="vi-VN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GCCN tổ chức lãnh đạo nh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â</a:t>
            </a:r>
            <a:r>
              <a:rPr lang="vi-VN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 d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â</a:t>
            </a:r>
            <a:r>
              <a:rPr lang="vi-VN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 đấu tranh giải phóng m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ì</a:t>
            </a:r>
            <a:r>
              <a:rPr lang="vi-VN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 và giải phóng toàn XH khỏi mọi áp bức, bất công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TBCN, </a:t>
            </a:r>
            <a:r>
              <a:rPr lang="en-US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xóa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CNTB </a:t>
            </a:r>
            <a:r>
              <a:rPr lang="en-US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xây dựng CNXH và CNCS trên phạm vi toàn thế giới.</a:t>
            </a:r>
          </a:p>
        </p:txBody>
      </p:sp>
      <p:sp>
        <p:nvSpPr>
          <p:cNvPr id="492556" name="Line 12"/>
          <p:cNvSpPr>
            <a:spLocks noChangeShapeType="1"/>
          </p:cNvSpPr>
          <p:nvPr/>
        </p:nvSpPr>
        <p:spPr bwMode="auto">
          <a:xfrm>
            <a:off x="6099175" y="2489200"/>
            <a:ext cx="0" cy="533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68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9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9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9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8" grpId="0"/>
      <p:bldP spid="5123" grpId="0" animBg="1"/>
      <p:bldP spid="492552" grpId="0" animBg="1"/>
      <p:bldP spid="4925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9"/>
          <p:cNvSpPr txBox="1">
            <a:spLocks noChangeArrowheads="1"/>
          </p:cNvSpPr>
          <p:nvPr/>
        </p:nvSpPr>
        <p:spPr bwMode="auto">
          <a:xfrm>
            <a:off x="3657600" y="781050"/>
            <a:ext cx="6629400" cy="9652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lnSpc>
                <a:spcPts val="3360"/>
              </a:lnSpc>
              <a:defRPr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GCCN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LLSX cơ bản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XHCN</a:t>
            </a:r>
            <a:endParaRPr 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Text Box 30"/>
          <p:cNvSpPr txBox="1">
            <a:spLocks noChangeArrowheads="1"/>
          </p:cNvSpPr>
          <p:nvPr/>
        </p:nvSpPr>
        <p:spPr bwMode="auto">
          <a:xfrm>
            <a:off x="3754438" y="2566988"/>
            <a:ext cx="6629400" cy="181588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vi-V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ND ch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í</a:t>
            </a:r>
            <a:r>
              <a:rPr lang="vi-V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nh trị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- 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xã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hội</a:t>
            </a:r>
            <a:r>
              <a:rPr lang="vi-V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:</a:t>
            </a:r>
            <a:r>
              <a:rPr lang="vi-V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vi-V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Dưới sự lãnh đạo của ĐCS, GCCN tiến hành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đấu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tranh</a:t>
            </a:r>
            <a:r>
              <a:rPr lang="vi-V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giành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chính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quyền</a:t>
            </a:r>
            <a:r>
              <a:rPr lang="vi-V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xây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dựng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nhà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nước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mới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của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nhân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dân</a:t>
            </a:r>
            <a:r>
              <a:rPr lang="vi-V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</a:p>
        </p:txBody>
      </p:sp>
      <p:sp>
        <p:nvSpPr>
          <p:cNvPr id="16388" name="Text Box 31"/>
          <p:cNvSpPr txBox="1">
            <a:spLocks noChangeArrowheads="1"/>
          </p:cNvSpPr>
          <p:nvPr/>
        </p:nvSpPr>
        <p:spPr bwMode="auto">
          <a:xfrm>
            <a:off x="3830638" y="4776788"/>
            <a:ext cx="6553200" cy="13843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>
              <a:defRPr/>
            </a:pPr>
            <a:r>
              <a:rPr lang="vi-V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ND 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văn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hóa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, 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tư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tưởng</a:t>
            </a:r>
            <a:r>
              <a:rPr lang="vi-V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: Dưới sự l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ã</a:t>
            </a:r>
            <a:r>
              <a:rPr lang="vi-V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nh đạo của ĐCS, GCCN x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ây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vi-V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dựng nền VH, con người mới với tư tưởng, đạo đức XHCN...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524000" y="2667001"/>
            <a:ext cx="1524000" cy="209232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6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Nội</a:t>
            </a:r>
            <a:r>
              <a:rPr lang="en-US" sz="26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dung </a:t>
            </a:r>
            <a:br>
              <a:rPr lang="en-US" sz="26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</a:br>
            <a:r>
              <a:rPr lang="en-US" sz="26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cụ</a:t>
            </a:r>
            <a:r>
              <a:rPr lang="en-US" sz="26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26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thể</a:t>
            </a:r>
            <a:r>
              <a:rPr lang="en-US" sz="26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26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của</a:t>
            </a:r>
            <a:r>
              <a:rPr lang="en-US" sz="26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SMLS GCCN</a:t>
            </a:r>
          </a:p>
        </p:txBody>
      </p:sp>
      <p:sp>
        <p:nvSpPr>
          <p:cNvPr id="16390" name="Line 32"/>
          <p:cNvSpPr>
            <a:spLocks noChangeShapeType="1"/>
          </p:cNvSpPr>
          <p:nvPr/>
        </p:nvSpPr>
        <p:spPr bwMode="auto">
          <a:xfrm flipH="1">
            <a:off x="3048000" y="1828800"/>
            <a:ext cx="685800" cy="838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6391" name="Line 32"/>
          <p:cNvSpPr>
            <a:spLocks noChangeShapeType="1"/>
          </p:cNvSpPr>
          <p:nvPr/>
        </p:nvSpPr>
        <p:spPr bwMode="auto">
          <a:xfrm flipH="1" flipV="1">
            <a:off x="3048000" y="4419600"/>
            <a:ext cx="685800" cy="1219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6392" name="Line 32"/>
          <p:cNvSpPr>
            <a:spLocks noChangeShapeType="1"/>
          </p:cNvSpPr>
          <p:nvPr/>
        </p:nvSpPr>
        <p:spPr bwMode="auto">
          <a:xfrm flipH="1" flipV="1">
            <a:off x="3048000" y="3475039"/>
            <a:ext cx="685800" cy="4603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6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ntr" presetSubtype="1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16387" grpId="0" animBg="1"/>
      <p:bldP spid="16388" grpId="0" animBg="1"/>
      <p:bldP spid="16390" grpId="0" animBg="1"/>
      <p:bldP spid="16391" grpId="0" animBg="1"/>
      <p:bldP spid="1639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88BB3C3-8DD5-40E7-8E36-F259E3E10921}" type="slidenum">
              <a:rPr lang="en-US">
                <a:latin typeface=".VnTime" panose="020B7200000000000000" pitchFamily="34" charset="0"/>
              </a:rPr>
              <a:pPr eaLnBrk="1" hangingPunct="1"/>
              <a:t>8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904999" y="228600"/>
            <a:ext cx="9950669" cy="1066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Đặc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điểm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sứ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mệnh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của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GCCN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262" y="1359599"/>
            <a:ext cx="11161985" cy="5334000"/>
          </a:xfrm>
        </p:spPr>
        <p:txBody>
          <a:bodyPr>
            <a:normAutofit/>
          </a:bodyPr>
          <a:lstStyle/>
          <a:p>
            <a:pPr marL="0" indent="0" algn="just">
              <a:lnSpc>
                <a:spcPts val="4200"/>
              </a:lnSpc>
              <a:spcBef>
                <a:spcPts val="0"/>
              </a:spcBef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SMLS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xuất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phát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những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tiền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đê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̀ KT - XH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của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tính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hóa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ts val="4200"/>
              </a:lnSpc>
              <a:spcBef>
                <a:spcPts val="0"/>
              </a:spcBef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Thực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hiện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SMLS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sư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̣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nghiệp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của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bản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cùng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đông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đảo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NDLĐ do ĐCS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lãnh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đạo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lại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lợi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ích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sô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́</a:t>
            </a:r>
          </a:p>
          <a:p>
            <a:pPr marL="0" indent="0" algn="just">
              <a:lnSpc>
                <a:spcPts val="4200"/>
              </a:lnSpc>
              <a:spcBef>
                <a:spcPts val="0"/>
              </a:spcBef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SMLS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phải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là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thê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́ c/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đô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̣ SH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này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bằng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một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c/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đô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̣ SH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khác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mà là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xóa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triệt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đê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̉ c/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đô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̣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tư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hữu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TBCN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vê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̀ TLSX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yếu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ts val="4200"/>
              </a:lnSpc>
              <a:spcBef>
                <a:spcPts val="0"/>
              </a:spcBef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Giành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quyền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cải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XH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cũ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XH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nhằm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người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92125" indent="-514350" algn="just">
              <a:lnSpc>
                <a:spcPts val="4200"/>
              </a:lnSpc>
              <a:spcBef>
                <a:spcPts val="600"/>
              </a:spcBef>
              <a:buFontTx/>
              <a:buAutoNum type="alphaLcParenR"/>
              <a:defRPr/>
            </a:pP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51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78D5CF-8DE0-4D3B-B980-CA4CFA3888A1}" type="slidenum">
              <a:rPr lang="en-US">
                <a:latin typeface=".VnTime" panose="020B7200000000000000" pitchFamily="34" charset="0"/>
              </a:rPr>
              <a:pPr eaLnBrk="1" hangingPunct="1"/>
              <a:t>9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433" y="1481836"/>
            <a:ext cx="11619187" cy="5211763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vi-VN" sz="3400" i="1" dirty="0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Điều kiện để một GC đảm nh</a:t>
            </a:r>
            <a:r>
              <a:rPr lang="en-US" sz="3400" i="1" dirty="0" err="1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iệm</a:t>
            </a:r>
            <a:r>
              <a:rPr lang="vi-VN" sz="3400" i="1" dirty="0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sz="3400" i="1" dirty="0" err="1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sứ</a:t>
            </a:r>
            <a:r>
              <a:rPr lang="en-US" sz="3400" i="1" dirty="0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sz="3400" i="1" dirty="0" err="1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mệnh</a:t>
            </a:r>
            <a:r>
              <a:rPr lang="en-US" sz="3400" i="1" dirty="0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sz="3400" i="1" dirty="0" err="1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lịch</a:t>
            </a:r>
            <a:r>
              <a:rPr lang="en-US" sz="3400" i="1" dirty="0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sz="3400" i="1" dirty="0" err="1">
                <a:solidFill>
                  <a:srgbClr val="FF0000"/>
                </a:solidFill>
                <a:latin typeface="Times New Roman (Headings)"/>
                <a:cs typeface="Arial" pitchFamily="34" charset="0"/>
              </a:rPr>
              <a:t>sử</a:t>
            </a:r>
            <a:endParaRPr lang="en-US" sz="3400" i="1" dirty="0">
              <a:solidFill>
                <a:srgbClr val="FF0000"/>
              </a:solidFill>
              <a:latin typeface="Times New Roman (Headings)"/>
              <a:cs typeface="Arial" pitchFamily="34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+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Đại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diện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cho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PTSX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tiên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tiến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của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thời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đại</a:t>
            </a:r>
            <a:endParaRPr lang="en-US" kern="1200" dirty="0">
              <a:solidFill>
                <a:srgbClr val="002060"/>
              </a:solidFill>
              <a:latin typeface="Times New Roman (Headings)"/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vi-VN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+ Có hệ tư tưởng riêng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tiến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bộ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</a:p>
          <a:p>
            <a:pPr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vi-VN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+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Có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lợi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ích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về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cơ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bản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phù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hợp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với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lợi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ích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của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đa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số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trong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xã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hội</a:t>
            </a:r>
            <a:endParaRPr lang="en-US" kern="1200" dirty="0">
              <a:solidFill>
                <a:srgbClr val="002060"/>
              </a:solidFill>
              <a:latin typeface="Times New Roman (Headings)"/>
              <a:cs typeface="Times New Roman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+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Có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tổ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chức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chính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đảng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dẫn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đường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(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từ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khi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CNTB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ra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kern="1200" dirty="0" err="1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đời</a:t>
            </a:r>
            <a:r>
              <a:rPr lang="en-US" kern="1200" dirty="0">
                <a:solidFill>
                  <a:srgbClr val="002060"/>
                </a:solidFill>
                <a:latin typeface="Times New Roman (Headings)"/>
                <a:cs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40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B991EF-198C-4831-8375-1EEA9B4BD44B}" type="slidenum">
              <a:rPr lang="en-US">
                <a:latin typeface=".VnTime" panose="020B7200000000000000" pitchFamily="34" charset="0"/>
              </a:rPr>
              <a:pPr eaLnBrk="1" hangingPunct="1"/>
              <a:t>10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2183027" y="451022"/>
            <a:ext cx="9473514" cy="10668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2.1.3.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Những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điều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kiện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quy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định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thực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hiện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sứ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mệnh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lịch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sử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của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giai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cấp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công</a:t>
            </a:r>
            <a:r>
              <a:rPr lang="en-US" sz="3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nhân</a:t>
            </a:r>
            <a:endParaRPr lang="en-US" sz="3000" b="1" dirty="0">
              <a:solidFill>
                <a:srgbClr val="FF0000"/>
              </a:solidFill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4973" y="1600200"/>
            <a:ext cx="10488827" cy="4953000"/>
          </a:xfrm>
        </p:spPr>
        <p:txBody>
          <a:bodyPr>
            <a:normAutofit/>
          </a:bodyPr>
          <a:lstStyle/>
          <a:p>
            <a:pPr marL="492125" indent="-514350" algn="just">
              <a:lnSpc>
                <a:spcPts val="4000"/>
              </a:lnSpc>
              <a:buNone/>
              <a:defRPr/>
            </a:pP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*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Điều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kiện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khách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quan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quy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định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 SMLS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của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 (Headings)"/>
                <a:cs typeface="Arial" pitchFamily="34" charset="0"/>
              </a:rPr>
              <a:t> GCCN</a:t>
            </a:r>
          </a:p>
          <a:p>
            <a:pPr marL="492125" indent="-514350" algn="just">
              <a:lnSpc>
                <a:spcPts val="4000"/>
              </a:lnSpc>
              <a:buFontTx/>
              <a:buChar char="-"/>
              <a:defRPr/>
            </a:pP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Do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địa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vị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kinh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tế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quy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định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:</a:t>
            </a:r>
          </a:p>
          <a:p>
            <a:pPr algn="just" eaLnBrk="1" hangingPunct="1">
              <a:buFontTx/>
              <a:buNone/>
              <a:defRPr/>
            </a:pP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(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Đ</a:t>
            </a:r>
            <a:r>
              <a:rPr lang="vi-VN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ại diện PTSX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.</a:t>
            </a:r>
            <a:r>
              <a:rPr lang="vi-VN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tiên tiến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;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tạo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ra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của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cải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vật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chất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chủ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yếu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cho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xã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hội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;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Lợi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ích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của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GCCN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về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cơ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bản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thống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nhất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với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lợi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ích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của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  <a:sym typeface="Wingdings" pitchFamily="2" charset="2"/>
              </a:rPr>
              <a:t> NDLĐ)</a:t>
            </a:r>
            <a:endParaRPr lang="en-US" i="1" dirty="0">
              <a:solidFill>
                <a:srgbClr val="0070C0"/>
              </a:solidFill>
              <a:latin typeface="Times New Roman (Headings)"/>
              <a:cs typeface="Arial" pitchFamily="34" charset="0"/>
            </a:endParaRPr>
          </a:p>
          <a:p>
            <a:pPr marL="492125" indent="-514350" algn="just">
              <a:lnSpc>
                <a:spcPts val="4000"/>
              </a:lnSpc>
              <a:buFontTx/>
              <a:buChar char="-"/>
              <a:defRPr/>
            </a:pP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Do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địa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vị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chính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trị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-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xã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hội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quy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Arial" pitchFamily="34" charset="0"/>
              </a:rPr>
              <a:t>định</a:t>
            </a:r>
            <a:endParaRPr lang="en-US" b="1" dirty="0">
              <a:solidFill>
                <a:srgbClr val="002060"/>
              </a:solidFill>
              <a:latin typeface="Times New Roman (Headings)"/>
              <a:cs typeface="Arial" pitchFamily="34" charset="0"/>
            </a:endParaRPr>
          </a:p>
          <a:p>
            <a:pPr algn="just" eaLnBrk="1" hangingPunct="1">
              <a:buFontTx/>
              <a:buNone/>
              <a:defRPr/>
            </a:pP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(</a:t>
            </a:r>
            <a:r>
              <a:rPr lang="vi-VN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Có hệ tư tưởng Mác– L</a:t>
            </a:r>
            <a:r>
              <a:rPr lang="vi-VN" i="1" dirty="0">
                <a:solidFill>
                  <a:srgbClr val="0070C0"/>
                </a:solidFill>
                <a:latin typeface="Times New Roman (Headings)"/>
              </a:rPr>
              <a:t>ê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</a:rPr>
              <a:t>nin</a:t>
            </a:r>
            <a:r>
              <a:rPr lang="en-US" i="1" dirty="0">
                <a:solidFill>
                  <a:srgbClr val="0070C0"/>
                </a:solidFill>
                <a:latin typeface="Times New Roman (Headings)"/>
              </a:rPr>
              <a:t>;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T</a:t>
            </a:r>
            <a:r>
              <a:rPr lang="vi-VN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inh thần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cách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mạng</a:t>
            </a:r>
            <a:r>
              <a:rPr lang="vi-VN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triệt để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; Ý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thức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tổ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chức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,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kỷ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luật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cao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;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tinh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thần</a:t>
            </a:r>
            <a:r>
              <a:rPr lang="vi-VN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đoàn kết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giai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cấp</a:t>
            </a:r>
            <a:r>
              <a:rPr lang="vi-VN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và các lực lượng</a:t>
            </a:r>
            <a:r>
              <a:rPr lang="en-US" i="1" dirty="0">
                <a:solidFill>
                  <a:srgbClr val="0070C0"/>
                </a:solidFill>
                <a:latin typeface="Times New Roman (Headings)"/>
                <a:cs typeface="Arial" pitchFamily="34" charset="0"/>
              </a:rPr>
              <a:t> XH)</a:t>
            </a:r>
          </a:p>
        </p:txBody>
      </p:sp>
    </p:spTree>
    <p:extLst>
      <p:ext uri="{BB962C8B-B14F-4D97-AF65-F5344CB8AC3E}">
        <p14:creationId xmlns:p14="http://schemas.microsoft.com/office/powerpoint/2010/main" val="3151361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FDF00C-0D99-4E9C-B16F-A48DBFDEDAA0}" type="slidenum">
              <a:rPr lang="en-US">
                <a:latin typeface=".VnTime" panose="020B7200000000000000" pitchFamily="34" charset="0"/>
              </a:rPr>
              <a:pPr eaLnBrk="1" hangingPunct="1"/>
              <a:t>11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30892" y="1295611"/>
            <a:ext cx="9951308" cy="10668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000" b="1" i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* </a:t>
            </a:r>
            <a:r>
              <a:rPr lang="en-US" sz="3000" b="1" i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Điều</a:t>
            </a:r>
            <a:r>
              <a:rPr lang="en-US" sz="3000" b="1" i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i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kiện</a:t>
            </a:r>
            <a:r>
              <a:rPr lang="en-US" sz="3000" b="1" i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i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chủ</a:t>
            </a:r>
            <a:r>
              <a:rPr lang="en-US" sz="3000" b="1" i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i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quan</a:t>
            </a:r>
            <a:r>
              <a:rPr lang="en-US" sz="3000" b="1" i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i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để</a:t>
            </a:r>
            <a:r>
              <a:rPr lang="en-US" sz="3000" b="1" i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GCCN </a:t>
            </a:r>
            <a:r>
              <a:rPr lang="en-US" sz="3000" b="1" i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thực</a:t>
            </a:r>
            <a:r>
              <a:rPr lang="en-US" sz="3000" b="1" i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000" b="1" i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hiện</a:t>
            </a:r>
            <a:r>
              <a:rPr lang="en-US" sz="3000" b="1" i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SMLS</a:t>
            </a:r>
            <a:endParaRPr lang="en-US" sz="3000" b="1" dirty="0">
              <a:solidFill>
                <a:srgbClr val="FF0000"/>
              </a:solidFill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7266" y="2482145"/>
            <a:ext cx="11251465" cy="5029200"/>
          </a:xfr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phát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triển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thân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GCCN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endParaRPr lang="en-US" b="1" kern="1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ĐCS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GCCN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thắng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lợi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SMLS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buNone/>
              <a:defRPr/>
            </a:pP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- XD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minh GC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GCCN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GCND &amp;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tầng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kern="1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b="1" kern="1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8355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7268" y="342900"/>
            <a:ext cx="10105698" cy="1028700"/>
          </a:xfrm>
        </p:spPr>
        <p:txBody>
          <a:bodyPr/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vi-VN" altLang="en-US" sz="2800" b="1" dirty="0">
                <a:solidFill>
                  <a:srgbClr val="7030A0"/>
                </a:solidFill>
                <a:latin typeface="Times New Roman (Headings)"/>
              </a:rPr>
              <a:t>Đảng Cộng sản</a:t>
            </a:r>
            <a:r>
              <a:rPr lang="en-US" altLang="en-US" sz="2800" b="1" dirty="0">
                <a:solidFill>
                  <a:srgbClr val="7030A0"/>
                </a:solidFill>
                <a:latin typeface="Times New Roman (Headings)"/>
              </a:rPr>
              <a:t> -</a:t>
            </a:r>
            <a:r>
              <a:rPr lang="vi-VN" altLang="en-US" sz="2800" b="1" dirty="0">
                <a:solidFill>
                  <a:srgbClr val="7030A0"/>
                </a:solidFill>
                <a:latin typeface="Times New Roman (Headings)"/>
              </a:rPr>
              <a:t> nhân tố chủ quan quan trọng nhất để GCCN hoàn thành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 (Headings)"/>
              </a:rPr>
              <a:t>sứ</a:t>
            </a:r>
            <a:r>
              <a:rPr lang="en-US" altLang="en-US" sz="2800" b="1" dirty="0">
                <a:solidFill>
                  <a:srgbClr val="7030A0"/>
                </a:solidFill>
                <a:latin typeface="Times New Roman (Headings)"/>
              </a:rPr>
              <a:t>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 (Headings)"/>
              </a:rPr>
              <a:t>mệnh</a:t>
            </a:r>
            <a:r>
              <a:rPr lang="en-US" altLang="en-US" sz="2800" b="1" dirty="0">
                <a:solidFill>
                  <a:srgbClr val="7030A0"/>
                </a:solidFill>
                <a:latin typeface="Times New Roman (Headings)"/>
              </a:rPr>
              <a:t>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 (Headings)"/>
              </a:rPr>
              <a:t>lịch</a:t>
            </a:r>
            <a:r>
              <a:rPr lang="en-US" altLang="en-US" sz="2800" b="1" dirty="0">
                <a:solidFill>
                  <a:srgbClr val="7030A0"/>
                </a:solidFill>
                <a:latin typeface="Times New Roman (Headings)"/>
              </a:rPr>
              <a:t>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 (Headings)"/>
              </a:rPr>
              <a:t>sử</a:t>
            </a:r>
            <a:endParaRPr lang="en-US" altLang="en-US" sz="2800" b="1" dirty="0">
              <a:solidFill>
                <a:srgbClr val="7030A0"/>
              </a:solidFill>
              <a:latin typeface="Times New Roman (Headings)"/>
            </a:endParaRPr>
          </a:p>
        </p:txBody>
      </p:sp>
      <p:sp>
        <p:nvSpPr>
          <p:cNvPr id="13322" name="Rectangle 10"/>
          <p:cNvSpPr>
            <a:spLocks noGrp="1" noChangeArrowheads="1"/>
          </p:cNvSpPr>
          <p:nvPr>
            <p:ph idx="1"/>
          </p:nvPr>
        </p:nvSpPr>
        <p:spPr>
          <a:xfrm>
            <a:off x="441435" y="1524000"/>
            <a:ext cx="11083158" cy="5334000"/>
          </a:xfrm>
        </p:spPr>
        <p:txBody>
          <a:bodyPr/>
          <a:lstStyle/>
          <a:p>
            <a: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Đảng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</a:t>
            </a:r>
          </a:p>
          <a:p>
            <a: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ĐCS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trào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Mác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Lênin</a:t>
            </a:r>
            <a:r>
              <a:rPr lang="en-US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GCCN là cơ sở xã hội</a:t>
            </a:r>
            <a:r>
              <a:rPr lang="vi-VN" altLang="en-US" sz="2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 trọng nhất của Đảng </a:t>
            </a:r>
          </a:p>
          <a:p>
            <a: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Đảng chỉ</a:t>
            </a:r>
            <a:r>
              <a:rPr lang="vi-VN" altLang="en-US" sz="2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 những người ưu tú, giác ngộ lý luận, kiên quyết cách mạng nhất. </a:t>
            </a:r>
          </a:p>
          <a:p>
            <a: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Đảng </a:t>
            </a:r>
            <a:r>
              <a:rPr lang="vi-VN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 hơn giai cấp</a:t>
            </a:r>
            <a:r>
              <a:rPr lang="vi-VN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trình độ giác ngộ lí tưởng, tr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vi-VN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tuệ, phẩm chất và sự hi sinh cho giai cấp =&gt;  lãnh đạo giai cấp. </a:t>
            </a:r>
            <a:endParaRPr lang="en-US" altLang="en-US" sz="2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Rectangle 7"/>
          <p:cNvSpPr>
            <a:spLocks noChangeArrowheads="1"/>
          </p:cNvSpPr>
          <p:nvPr/>
        </p:nvSpPr>
        <p:spPr bwMode="auto">
          <a:xfrm>
            <a:off x="2133600" y="171450"/>
            <a:ext cx="85344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br>
              <a:rPr lang="en-US" altLang="en-US" sz="20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</a:br>
            <a:br>
              <a:rPr lang="en-US" altLang="en-US" sz="20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</a:br>
            <a:br>
              <a:rPr lang="en-US" altLang="en-US" sz="20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</a:br>
            <a:br>
              <a:rPr lang="en-US" altLang="en-US" sz="20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</a:br>
            <a:br>
              <a:rPr lang="en-US" altLang="en-US" sz="20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</a:br>
            <a:br>
              <a:rPr lang="en-US" altLang="en-US" sz="24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</a:br>
            <a:r>
              <a:rPr lang="en-US" altLang="en-US" sz="20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  <a:t> </a:t>
            </a:r>
            <a:r>
              <a:rPr lang="en-US" altLang="en-US" sz="32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  <a:t>  </a:t>
            </a:r>
            <a:br>
              <a:rPr lang="en-US" altLang="en-US" sz="32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</a:br>
            <a:br>
              <a:rPr lang="en-US" altLang="en-US" sz="3200">
                <a:solidFill>
                  <a:srgbClr val="1F497D"/>
                </a:solidFill>
                <a:latin typeface=".VnTime" panose="020B7200000000000000" pitchFamily="34" charset="0"/>
                <a:cs typeface="Arial" panose="020B0604020202020204" pitchFamily="34" charset="0"/>
              </a:rPr>
            </a:br>
            <a:endParaRPr lang="en-US" altLang="en-US" sz="3200">
              <a:solidFill>
                <a:srgbClr val="1F497D"/>
              </a:solidFill>
              <a:latin typeface=".VnTime" panose="020B7200000000000000" pitchFamily="34" charset="0"/>
              <a:cs typeface="Arial" panose="020B0604020202020204" pitchFamily="34" charset="0"/>
            </a:endParaRPr>
          </a:p>
        </p:txBody>
      </p:sp>
      <p:sp>
        <p:nvSpPr>
          <p:cNvPr id="36869" name="Rectangle 9"/>
          <p:cNvSpPr>
            <a:spLocks noChangeArrowheads="1"/>
          </p:cNvSpPr>
          <p:nvPr/>
        </p:nvSpPr>
        <p:spPr bwMode="auto">
          <a:xfrm>
            <a:off x="1524000" y="342901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>
              <a:solidFill>
                <a:srgbClr val="1F497D"/>
              </a:solidFill>
              <a:latin typeface=".VnTime" panose="020B7200000000000000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430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0773" y="466889"/>
            <a:ext cx="8637587" cy="709612"/>
          </a:xfrm>
        </p:spPr>
        <p:txBody>
          <a:bodyPr/>
          <a:lstStyle/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Đảng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800" b="1" i="1" dirty="0">
                <a:solidFill>
                  <a:srgbClr val="FF0000"/>
                </a:solidFill>
                <a:latin typeface=".VnTime" panose="020B7200000000000000" pitchFamily="34" charset="0"/>
              </a:rPr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46841" y="1524000"/>
            <a:ext cx="11524593" cy="5334000"/>
          </a:xfrm>
        </p:spPr>
        <p:txBody>
          <a:bodyPr>
            <a:normAutofit/>
          </a:bodyPr>
          <a:lstStyle/>
          <a:p>
            <a:pPr algn="just">
              <a:lnSpc>
                <a:spcPts val="3700"/>
              </a:lnSpc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2400" b="1" i="1" dirty="0" err="1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Lãnh</a:t>
            </a:r>
            <a:r>
              <a:rPr lang="en-US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altLang="en-US" sz="2400" b="1" i="1" dirty="0" err="1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tụ</a:t>
            </a:r>
            <a:r>
              <a:rPr lang="en-US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altLang="en-US" sz="2400" b="1" i="1" dirty="0" err="1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chính</a:t>
            </a:r>
            <a:r>
              <a:rPr lang="en-US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 </a:t>
            </a:r>
            <a:r>
              <a:rPr lang="en-US" altLang="en-US" sz="2400" b="1" i="1" dirty="0" err="1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trị</a:t>
            </a:r>
            <a:r>
              <a:rPr lang="en-US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: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Làm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cho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GCCN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trở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thành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tự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giác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-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hiểu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rõ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và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biết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thực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hiện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SMLS;</a:t>
            </a:r>
            <a:endParaRPr lang="en-US" altLang="en-US" sz="2400" b="1" dirty="0">
              <a:solidFill>
                <a:srgbClr val="002060"/>
              </a:solidFill>
              <a:latin typeface="Times New Roman (Headings)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vi-VN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Tham mư</a:t>
            </a:r>
            <a:r>
              <a:rPr lang="en-US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u</a:t>
            </a:r>
            <a:r>
              <a:rPr lang="vi-VN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 giai cấp</a:t>
            </a:r>
            <a:r>
              <a:rPr lang="en-US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:</a:t>
            </a:r>
          </a:p>
          <a:p>
            <a:pPr algn="just">
              <a:buFont typeface="Arial" charset="0"/>
              <a:buChar char="•"/>
              <a:defRPr/>
            </a:pPr>
            <a:r>
              <a:rPr lang="vi-VN" sz="2400" b="1" dirty="0">
                <a:solidFill>
                  <a:srgbClr val="002060"/>
                </a:solidFill>
                <a:latin typeface="Times New Roman (Headings)"/>
              </a:rPr>
              <a:t>Vạch cương lĩnh, đường lối... đấu tran</a:t>
            </a:r>
            <a:r>
              <a:rPr lang="en-US" sz="2400" b="1" dirty="0">
                <a:solidFill>
                  <a:srgbClr val="002060"/>
                </a:solidFill>
                <a:latin typeface="Times New Roman (Headings)"/>
              </a:rPr>
              <a:t>h </a:t>
            </a:r>
            <a:r>
              <a:rPr lang="en-US" sz="2400" b="1" i="1" dirty="0" err="1">
                <a:solidFill>
                  <a:srgbClr val="002060"/>
                </a:solidFill>
                <a:latin typeface="Times New Roman (Headings)"/>
              </a:rPr>
              <a:t>chính</a:t>
            </a:r>
            <a:r>
              <a:rPr lang="en-US" sz="2400" b="1" i="1" dirty="0">
                <a:solidFill>
                  <a:srgbClr val="002060"/>
                </a:solidFill>
                <a:latin typeface="Times New Roman (Headings)"/>
              </a:rPr>
              <a:t> </a:t>
            </a:r>
            <a:r>
              <a:rPr lang="en-US" sz="2400" b="1" i="1" dirty="0" err="1">
                <a:solidFill>
                  <a:srgbClr val="002060"/>
                </a:solidFill>
                <a:latin typeface="Times New Roman (Headings)"/>
              </a:rPr>
              <a:t>trị</a:t>
            </a:r>
            <a:r>
              <a:rPr lang="vi-VN" sz="2400" b="1" i="1" dirty="0">
                <a:solidFill>
                  <a:srgbClr val="002060"/>
                </a:solidFill>
                <a:latin typeface="Times New Roman (Headings)"/>
              </a:rPr>
              <a:t> </a:t>
            </a:r>
          </a:p>
          <a:p>
            <a:pPr algn="just">
              <a:buFont typeface="Arial" charset="0"/>
              <a:buChar char="•"/>
              <a:defRPr/>
            </a:pPr>
            <a:r>
              <a:rPr lang="vi-VN" sz="2400" b="1" dirty="0">
                <a:solidFill>
                  <a:srgbClr val="002060"/>
                </a:solidFill>
                <a:latin typeface="Times New Roman (Headings)"/>
              </a:rPr>
              <a:t>Giác ngộ giai cấp tạo sự thống nhất về </a:t>
            </a:r>
            <a:r>
              <a:rPr lang="vi-VN" sz="2400" b="1" i="1" dirty="0">
                <a:solidFill>
                  <a:srgbClr val="002060"/>
                </a:solidFill>
                <a:latin typeface="Times New Roman (Headings)"/>
              </a:rPr>
              <a:t>tư tưởng</a:t>
            </a:r>
            <a:endParaRPr lang="vi-VN" sz="2400" b="1" dirty="0">
              <a:solidFill>
                <a:srgbClr val="002060"/>
              </a:solidFill>
              <a:latin typeface="Times New Roman (Headings)"/>
            </a:endParaRPr>
          </a:p>
          <a:p>
            <a:pPr algn="just">
              <a:buFont typeface="Arial" charset="0"/>
              <a:buChar char="•"/>
              <a:defRPr/>
            </a:pPr>
            <a:r>
              <a:rPr lang="en-US" sz="2400" b="1" i="1" dirty="0" err="1">
                <a:solidFill>
                  <a:srgbClr val="002060"/>
                </a:solidFill>
                <a:latin typeface="Times New Roman (Headings)"/>
              </a:rPr>
              <a:t>Tổ</a:t>
            </a:r>
            <a:r>
              <a:rPr lang="vi-VN" sz="2400" b="1" i="1" dirty="0">
                <a:solidFill>
                  <a:srgbClr val="002060"/>
                </a:solidFill>
                <a:latin typeface="Times New Roman (Headings)"/>
              </a:rPr>
              <a:t> chức</a:t>
            </a:r>
            <a:r>
              <a:rPr lang="vi-VN" sz="2400" b="1" dirty="0">
                <a:solidFill>
                  <a:srgbClr val="002060"/>
                </a:solidFill>
                <a:latin typeface="Times New Roman (Headings)"/>
              </a:rPr>
              <a:t> để tạo nên sức mạnh thống nhất, liên kết hành động... cho cả giai cấp</a:t>
            </a:r>
            <a:endParaRPr lang="vi-VN" altLang="en-US" sz="2400" b="1" i="1" dirty="0">
              <a:solidFill>
                <a:srgbClr val="002060"/>
              </a:solidFill>
              <a:latin typeface="Times New Roman (Headings)"/>
              <a:cs typeface="Times New Roman" pitchFamily="18" charset="0"/>
            </a:endParaRPr>
          </a:p>
          <a:p>
            <a:pPr algn="just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vi-VN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Tiền phong đấu tranh</a:t>
            </a:r>
            <a:r>
              <a:rPr lang="en-US" altLang="en-US" sz="2400" b="1" i="1" dirty="0">
                <a:solidFill>
                  <a:srgbClr val="7030A0"/>
                </a:solidFill>
                <a:latin typeface="Times New Roman (Headings)"/>
                <a:cs typeface="Times New Roman" pitchFamily="18" charset="0"/>
              </a:rPr>
              <a:t>:</a:t>
            </a:r>
            <a:endParaRPr lang="vi-VN" altLang="en-US" sz="2400" b="1" i="1" dirty="0">
              <a:solidFill>
                <a:srgbClr val="7030A0"/>
              </a:solidFill>
              <a:latin typeface="Times New Roman (Headings)"/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buFont typeface="Arial" charset="0"/>
              <a:buChar char="•"/>
              <a:defRPr/>
            </a:pPr>
            <a:r>
              <a:rPr lang="en-US" altLang="en-US" sz="2400" b="1" i="1" dirty="0">
                <a:latin typeface="Times New Roman (Headings)"/>
              </a:rPr>
              <a:t> </a:t>
            </a:r>
            <a:r>
              <a:rPr lang="vi-VN" sz="2400" b="1" dirty="0">
                <a:solidFill>
                  <a:srgbClr val="002060"/>
                </a:solidFill>
                <a:latin typeface="Times New Roman (Headings)"/>
              </a:rPr>
              <a:t>Đi đầu trong đấu tranh, tiên phong về trí tuệ, gương mẫu trong cuộc sống.</a:t>
            </a:r>
          </a:p>
          <a:p>
            <a:pPr algn="just" eaLnBrk="1" hangingPunct="1">
              <a:lnSpc>
                <a:spcPct val="110000"/>
              </a:lnSpc>
              <a:buFontTx/>
              <a:buNone/>
              <a:defRPr/>
            </a:pPr>
            <a:endParaRPr lang="en-US" altLang="en-US" sz="2400" b="1" dirty="0">
              <a:latin typeface="Times New Roman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79632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ADD409-18EF-4496-9EF0-B989DAAFD1BF}" type="slidenum">
              <a:rPr lang="en-US">
                <a:latin typeface=".VnTime" panose="020B7200000000000000" pitchFamily="34" charset="0"/>
              </a:rPr>
              <a:pPr eaLnBrk="1" hangingPunct="1"/>
              <a:t>14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744362" y="304800"/>
            <a:ext cx="10043984" cy="1066800"/>
          </a:xfrm>
        </p:spPr>
        <p:txBody>
          <a:bodyPr/>
          <a:lstStyle/>
          <a:p>
            <a:pPr algn="ctr" eaLnBrk="1" hangingPunct="1"/>
            <a:r>
              <a:rPr 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 GCCN VÀ THỰC HIỆN SỨ MỆNH LỊCH SỬ CỦA GCCN HIỆN NAY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2966" y="1371600"/>
            <a:ext cx="11315380" cy="5181600"/>
          </a:xfrm>
        </p:spPr>
        <p:txBody>
          <a:bodyPr/>
          <a:lstStyle/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2.2.1.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cấp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kỷ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XIX:</a:t>
            </a:r>
          </a:p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LLSX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XH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GCTS &amp; CNTB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bóc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lột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thặng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đột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GCTS &amp; GCCN (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lao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vi-V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 đầu đấu tranh chống CNTB….</a:t>
            </a:r>
          </a:p>
          <a:p>
            <a:pPr marL="492125" indent="-514350" algn="just">
              <a:lnSpc>
                <a:spcPts val="4000"/>
              </a:lnSpc>
              <a:buNone/>
            </a:pP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2125" indent="-514350" algn="just">
              <a:lnSpc>
                <a:spcPts val="4000"/>
              </a:lnSpc>
              <a:buNone/>
            </a:pP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336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20F88E-8A87-4C19-BBB7-68384CFEC353}" type="slidenum">
              <a:rPr lang="en-US">
                <a:latin typeface=".VnTime" panose="020B7200000000000000" pitchFamily="34" charset="0"/>
              </a:rPr>
              <a:pPr eaLnBrk="1" hangingPunct="1"/>
              <a:t>15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2607" y="1600200"/>
            <a:ext cx="11351598" cy="4724400"/>
          </a:xfrm>
        </p:spPr>
        <p:txBody>
          <a:bodyPr/>
          <a:lstStyle/>
          <a:p>
            <a:pPr marL="492125" indent="-514350" algn="just">
              <a:lnSpc>
                <a:spcPts val="4000"/>
              </a:lnSpc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b)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biệt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GCCN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92125" indent="-514350" algn="just">
              <a:lnSpc>
                <a:spcPts val="4000"/>
              </a:lnSpc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vi-V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Xu hướng trí tuệ hoá GCCN (CN tri thức)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FontTx/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vi-V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am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hữu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 eaLnBrk="1" hangingPunct="1">
              <a:buFontTx/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vi-V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Biểu hiện mới về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vi-V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hoá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lao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FontTx/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+ Ở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XHCN, GCCN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giai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lãnh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đạo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đội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phong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ĐCS</a:t>
            </a:r>
          </a:p>
        </p:txBody>
      </p:sp>
    </p:spTree>
    <p:extLst>
      <p:ext uri="{BB962C8B-B14F-4D97-AF65-F5344CB8AC3E}">
        <p14:creationId xmlns:p14="http://schemas.microsoft.com/office/powerpoint/2010/main" val="3401830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C3350A-2519-403A-9AB5-7E4C4A1486D0}" type="slidenum">
              <a:rPr lang="en-US">
                <a:latin typeface=".VnTime" panose="020B7200000000000000" pitchFamily="34" charset="0"/>
              </a:rPr>
              <a:pPr eaLnBrk="1" hangingPunct="1"/>
              <a:t>16</a:t>
            </a:fld>
            <a:endParaRPr lang="en-US">
              <a:latin typeface=".VnTime" panose="020B7200000000000000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62000"/>
            <a:ext cx="9959546" cy="1219200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2.2.2.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Thực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hiện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sứ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mệnh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lịch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sử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của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GCCN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thế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giới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3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hiện</a:t>
            </a:r>
            <a: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nay</a:t>
            </a:r>
            <a:br>
              <a:rPr lang="en-US" sz="3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</a:br>
            <a:endParaRPr lang="en-US" sz="3500" b="1" dirty="0">
              <a:solidFill>
                <a:srgbClr val="FF0000"/>
              </a:solidFill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6821" y="1981200"/>
            <a:ext cx="8382000" cy="4419600"/>
          </a:xfrm>
        </p:spPr>
        <p:txBody>
          <a:bodyPr/>
          <a:lstStyle/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-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Về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nội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dung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kinh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tê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́ </a:t>
            </a:r>
          </a:p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-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Về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nội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dung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trị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</a:p>
          <a:p>
            <a:pPr marL="492125" indent="-514350" algn="just">
              <a:lnSpc>
                <a:spcPts val="4000"/>
              </a:lnSpc>
              <a:buNone/>
            </a:pP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-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Về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nội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dung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văn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hóa</a:t>
            </a:r>
            <a:r>
              <a:rPr lang="en-US" b="1" dirty="0">
                <a:solidFill>
                  <a:srgbClr val="002060"/>
                </a:solidFill>
                <a:latin typeface="Times New Roman (Headings)"/>
                <a:cs typeface="Times New Roman" panose="02020603050405020304" pitchFamily="18" charset="0"/>
              </a:rPr>
              <a:t> - XH</a:t>
            </a:r>
          </a:p>
        </p:txBody>
      </p:sp>
    </p:spTree>
    <p:extLst>
      <p:ext uri="{BB962C8B-B14F-4D97-AF65-F5344CB8AC3E}">
        <p14:creationId xmlns:p14="http://schemas.microsoft.com/office/powerpoint/2010/main" val="2948290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042984" y="516924"/>
            <a:ext cx="8686800" cy="5334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 so </a:t>
            </a:r>
            <a:r>
              <a:rPr lang="en-US" alt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TK XIX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68411" y="1268627"/>
            <a:ext cx="11088130" cy="5867400"/>
          </a:xfrm>
        </p:spPr>
        <p:txBody>
          <a:bodyPr/>
          <a:lstStyle/>
          <a:p>
            <a:pPr algn="just">
              <a:lnSpc>
                <a:spcPts val="3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en-US" sz="26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XH;</a:t>
            </a:r>
          </a:p>
          <a:p>
            <a:pPr>
              <a:lnSpc>
                <a:spcPts val="3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5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XHCN: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CNXH;</a:t>
            </a:r>
          </a:p>
          <a:p>
            <a:pPr algn="just">
              <a:lnSpc>
                <a:spcPts val="35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TBCN: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nghèo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ô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nhiễm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>
              <a:lnSpc>
                <a:spcPts val="35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XH</a:t>
            </a:r>
            <a:r>
              <a:rPr lang="en-US" altLang="en-US" sz="2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2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altLang="en-US" sz="26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8250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76648" y="1257300"/>
            <a:ext cx="8229600" cy="723900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2.3.1.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94138" y="1981200"/>
            <a:ext cx="11534251" cy="5257800"/>
          </a:xfrm>
        </p:spPr>
        <p:txBody>
          <a:bodyPr rtlCol="0">
            <a:normAutofit/>
          </a:bodyPr>
          <a:lstStyle/>
          <a:p>
            <a:pPr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vi-VN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GCCN Việt Nam</a:t>
            </a:r>
            <a:r>
              <a:rPr lang="en-US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sản phẩm của một quá trình công nghiệp hoá đặc biệt</a:t>
            </a:r>
          </a:p>
          <a:p>
            <a:pPr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 đời từ quá trình “khai thác thuộc địa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vi-V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nước nông nghiệp lạc hậu, công nghiệp hoá muộn; cơ sở kinh tế - kỹ thuật ít và lạc hậu, công nghệ còn thấp và thiếu công nghệ hiện đại...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32454" y="368643"/>
            <a:ext cx="8229600" cy="723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2.3. SỨ MỆNH LỊCH SỬ CỦA GCCN VIỆT NAM</a:t>
            </a:r>
          </a:p>
        </p:txBody>
      </p:sp>
    </p:spTree>
    <p:extLst>
      <p:ext uri="{BB962C8B-B14F-4D97-AF65-F5344CB8AC3E}">
        <p14:creationId xmlns:p14="http://schemas.microsoft.com/office/powerpoint/2010/main" val="37133596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708453" y="1406611"/>
            <a:ext cx="11162271" cy="5345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lnSpc>
                <a:spcPts val="36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pPr>
            <a:r>
              <a:rPr lang="vi-VN" sz="2600" b="1" i="1" dirty="0">
                <a:solidFill>
                  <a:srgbClr val="FF0000"/>
                </a:solidFill>
                <a:latin typeface="Times New Roman"/>
              </a:rPr>
              <a:t>GCCN Việt Nam có nhiều ưu thế về chính trị</a:t>
            </a:r>
            <a:r>
              <a:rPr lang="vi-VN" sz="2600" b="1" dirty="0">
                <a:solidFill>
                  <a:srgbClr val="00B050"/>
                </a:solidFill>
                <a:latin typeface="Times New Roman"/>
              </a:rPr>
              <a:t> </a:t>
            </a:r>
          </a:p>
          <a:p>
            <a:pPr marL="457200" indent="-457200" algn="just"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Sớm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Mác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Lênin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Đảng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suốt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vi-VN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 vàng về chính trị, tư tưởng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vi-VN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rèn luyện,  có bản lĩnh chính trị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457200" indent="-457200" algn="just"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vi-VN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nòng cốt, đi đầu trong sự nghiệp 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vi-VN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của dân tộc và q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ú</a:t>
            </a:r>
            <a:r>
              <a:rPr lang="vi-VN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trình đổi mới theo định hướng XHCN</a:t>
            </a:r>
            <a:r>
              <a:rPr lang="en-US" sz="2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457200" indent="-457200" algn="just">
              <a:lnSpc>
                <a:spcPts val="4000"/>
              </a:lnSpc>
              <a:spcBef>
                <a:spcPts val="1200"/>
              </a:spcBef>
              <a:buFont typeface="Wingdings" panose="05000000000000000000" pitchFamily="2" charset="2"/>
              <a:buChar char="ü"/>
              <a:defRPr/>
            </a:pPr>
            <a:r>
              <a:rPr lang="en-US" sz="2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vi-VN" sz="2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giai cấp kiên quyết nhất, cách mạng nhất, đi đầu trong đấu tranh cách mạng” </a:t>
            </a:r>
            <a:r>
              <a:rPr lang="en-US" sz="2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 Chí Minh.</a:t>
            </a:r>
          </a:p>
          <a:p>
            <a:pPr algn="just">
              <a:defRPr/>
            </a:pPr>
            <a:r>
              <a:rPr lang="en-US" sz="2600" b="1" i="1" dirty="0">
                <a:solidFill>
                  <a:srgbClr val="C00000"/>
                </a:solidFill>
                <a:latin typeface="Calibri"/>
              </a:rPr>
              <a:t>     </a:t>
            </a:r>
            <a:endParaRPr lang="en-US" sz="2600" i="1" dirty="0">
              <a:solidFill>
                <a:srgbClr val="C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816848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ChangeArrowheads="1"/>
          </p:cNvSpPr>
          <p:nvPr/>
        </p:nvSpPr>
        <p:spPr bwMode="auto">
          <a:xfrm>
            <a:off x="815546" y="1577547"/>
            <a:ext cx="9689757" cy="337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800"/>
              </a:spcBef>
              <a:buClr>
                <a:srgbClr val="F07F09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tộc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endParaRPr lang="en-US" altLang="en-US" sz="2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1800"/>
              </a:spcBef>
              <a:buClr>
                <a:srgbClr val="F07F09"/>
              </a:buClr>
              <a:buSzPct val="80000"/>
              <a:buFont typeface="Wingdings" panose="05000000000000000000" pitchFamily="2" charset="2"/>
              <a:buChar char="ü"/>
            </a:pPr>
            <a:r>
              <a:rPr lang="vi-VN" altLang="en-US" sz="2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Gắn bó lợi ích giai cấp với  lợi ích dân tộc...</a:t>
            </a:r>
          </a:p>
          <a:p>
            <a:pPr eaLnBrk="1" hangingPunct="1">
              <a:lnSpc>
                <a:spcPct val="150000"/>
              </a:lnSpc>
              <a:spcBef>
                <a:spcPts val="1800"/>
              </a:spcBef>
              <a:buClr>
                <a:srgbClr val="F07F09"/>
              </a:buClr>
              <a:buSzPct val="80000"/>
              <a:buFont typeface="Wingdings" panose="05000000000000000000" pitchFamily="2" charset="2"/>
              <a:buChar char="ü"/>
            </a:pPr>
            <a:r>
              <a:rPr lang="vi-VN" altLang="en-US" sz="2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Nhận rõ kẻ thù của giai cấp và dân tộc là một  </a:t>
            </a:r>
          </a:p>
          <a:p>
            <a:pPr eaLnBrk="1" hangingPunct="1">
              <a:lnSpc>
                <a:spcPct val="150000"/>
              </a:lnSpc>
              <a:spcBef>
                <a:spcPts val="1800"/>
              </a:spcBef>
              <a:buClr>
                <a:srgbClr val="F07F09"/>
              </a:buClr>
              <a:buSzPct val="80000"/>
              <a:buFont typeface="Wingdings" panose="05000000000000000000" pitchFamily="2" charset="2"/>
              <a:buChar char="ü"/>
            </a:pPr>
            <a:r>
              <a:rPr lang="vi-VN" altLang="en-US" sz="2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Sớm trở thành giai cấp lãnh đạo dân tộc. </a:t>
            </a:r>
          </a:p>
        </p:txBody>
      </p:sp>
    </p:spTree>
    <p:extLst>
      <p:ext uri="{BB962C8B-B14F-4D97-AF65-F5344CB8AC3E}">
        <p14:creationId xmlns:p14="http://schemas.microsoft.com/office/powerpoint/2010/main" val="16055638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130" y="496331"/>
            <a:ext cx="9943070" cy="887413"/>
          </a:xfrm>
        </p:spPr>
        <p:txBody>
          <a:bodyPr/>
          <a:lstStyle/>
          <a:p>
            <a:pPr algn="ctr" eaLnBrk="1" hangingPunct="1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2.3.2.</a:t>
            </a:r>
            <a:r>
              <a:rPr lang="en-US" sz="2800" b="1" dirty="0">
                <a:solidFill>
                  <a:srgbClr val="FF0000"/>
                </a:solidFill>
                <a:latin typeface=".VnTime" panose="020B7200000000000000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GCCN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9431" y="1991802"/>
            <a:ext cx="11100021" cy="4866198"/>
          </a:xfrm>
        </p:spPr>
        <p:txBody>
          <a:bodyPr>
            <a:normAutofit/>
          </a:bodyPr>
          <a:lstStyle/>
          <a:p>
            <a:r>
              <a:rPr lang="vi-VN" sz="3000" b="1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Thời kỳ trước cách mạng Tháng Tám (1945)</a:t>
            </a:r>
            <a:endParaRPr lang="en-US" sz="3000" b="1" i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3000" b="1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Thời kỳ sau </a:t>
            </a:r>
            <a:r>
              <a:rPr lang="en-US" sz="3000" b="1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</a:t>
            </a:r>
            <a:r>
              <a:rPr lang="vi-VN" sz="3000" b="1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ách mạng Tháng Tám (1945)</a:t>
            </a:r>
            <a:endParaRPr lang="en-US" sz="3000" b="1" i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3000" b="1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Thời kỳ xây dựng và bảo vệ Tổ quốc xã hội chủ nghĩa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1257549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599" y="267043"/>
            <a:ext cx="9803027" cy="11684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2.3.3. PHƯƠNG HƯỚNG VÀ MỘT SỐ GIẢI PHÁP CHỦ YẾU XÂY DỰNG GCCN VIỆT NAM HIỆN NAY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10745" y="1561070"/>
            <a:ext cx="11327027" cy="5562600"/>
          </a:xfrm>
        </p:spPr>
        <p:txBody>
          <a:bodyPr/>
          <a:lstStyle/>
          <a:p>
            <a:pPr marL="514350" indent="-514350" algn="just">
              <a:lnSpc>
                <a:spcPts val="4000"/>
              </a:lnSpc>
              <a:spcBef>
                <a:spcPts val="600"/>
              </a:spcBef>
              <a:buSzPts val="3200"/>
              <a:buFont typeface="Calibri" panose="020F0502020204030204" pitchFamily="34" charset="0"/>
              <a:buAutoNum type="arabicPeriod"/>
            </a:pPr>
            <a:r>
              <a:rPr lang="vi-V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Nâng cao nhận thức trong Đảng, tổ chức công đoàn, bản thân GC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vi-V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 trong toàn XH về vai trò (SMLS) của GCCN</a:t>
            </a:r>
          </a:p>
          <a:p>
            <a:pPr marL="514350" indent="-514350" algn="just">
              <a:lnSpc>
                <a:spcPts val="4000"/>
              </a:lnSpc>
              <a:spcBef>
                <a:spcPts val="600"/>
              </a:spcBef>
              <a:buSzPts val="3200"/>
              <a:buFont typeface="Calibri" panose="020F0502020204030204" pitchFamily="34" charset="0"/>
              <a:buAutoNum type="arabicPeriod"/>
            </a:pP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ts val="4000"/>
              </a:lnSpc>
              <a:spcBef>
                <a:spcPts val="600"/>
              </a:spcBef>
              <a:buSzPts val="3200"/>
              <a:buFont typeface="Calibri" panose="020F0502020204030204" pitchFamily="34" charset="0"/>
              <a:buAutoNum type="arabicPeriod"/>
            </a:pP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DN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NN.</a:t>
            </a:r>
          </a:p>
          <a:p>
            <a:pPr marL="514350" indent="-514350" algn="just">
              <a:lnSpc>
                <a:spcPts val="4000"/>
              </a:lnSpc>
              <a:spcBef>
                <a:spcPts val="600"/>
              </a:spcBef>
              <a:buSzPts val="3200"/>
              <a:buFont typeface="Calibri" panose="020F0502020204030204" pitchFamily="34" charset="0"/>
              <a:buAutoNum type="arabicPeriod"/>
            </a:pP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CNH, HĐH.</a:t>
            </a:r>
          </a:p>
          <a:p>
            <a:pPr marL="514350" indent="-514350" algn="just">
              <a:lnSpc>
                <a:spcPts val="4000"/>
              </a:lnSpc>
              <a:spcBef>
                <a:spcPts val="600"/>
              </a:spcBef>
              <a:buSzPts val="3200"/>
              <a:buFont typeface="Calibri" panose="020F0502020204030204" pitchFamily="34" charset="0"/>
              <a:buAutoNum type="arabicPeriod"/>
            </a:pPr>
            <a:r>
              <a:rPr lang="vi-V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 thiện luật đầu tư (thu hút đầu tư nhưng phải bảo vệ lợi ích người lao động)</a:t>
            </a:r>
          </a:p>
        </p:txBody>
      </p:sp>
    </p:spTree>
    <p:extLst>
      <p:ext uri="{BB962C8B-B14F-4D97-AF65-F5344CB8AC3E}">
        <p14:creationId xmlns:p14="http://schemas.microsoft.com/office/powerpoint/2010/main" val="284275865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7376</TotalTime>
  <Words>1848</Words>
  <Application>Microsoft Office PowerPoint</Application>
  <PresentationFormat>Widescreen</PresentationFormat>
  <Paragraphs>121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.VnArial</vt:lpstr>
      <vt:lpstr>.VnTime</vt:lpstr>
      <vt:lpstr>Arial</vt:lpstr>
      <vt:lpstr>Calibri</vt:lpstr>
      <vt:lpstr>Calibri Light</vt:lpstr>
      <vt:lpstr>Times New Roman</vt:lpstr>
      <vt:lpstr>Times New Roman (Headings)</vt:lpstr>
      <vt:lpstr>Wingdings</vt:lpstr>
      <vt:lpstr>Office Theme</vt:lpstr>
      <vt:lpstr>PowerPoint Presentation</vt:lpstr>
      <vt:lpstr>PowerPoint Presentation</vt:lpstr>
      <vt:lpstr>NỘI DUNG  </vt:lpstr>
      <vt:lpstr>2.1. Quan niệm cơ bản của chủ nghĩa Mác – Lênin về GCCN và SMLS thế giới của GCCN</vt:lpstr>
      <vt:lpstr>PowerPoint Presentation</vt:lpstr>
      <vt:lpstr>PowerPoint Presentation</vt:lpstr>
      <vt:lpstr>PowerPoint Presentation</vt:lpstr>
      <vt:lpstr> Đặc điểm sứ mệnh lịch sử của GCCN</vt:lpstr>
      <vt:lpstr>PowerPoint Presentation</vt:lpstr>
      <vt:lpstr>2.1.3. Những điều kiện quy định và thực hiện sứ mệnh lịch sử của giai cấp công nhân</vt:lpstr>
      <vt:lpstr>* Điều kiện chủ quan để GCCN thực hiện SMLS</vt:lpstr>
      <vt:lpstr>Đảng Cộng sản - nhân tố chủ quan quan trọng nhất để GCCN hoàn thành sứ mệnh lịch sử</vt:lpstr>
      <vt:lpstr>Vai trò của Đảng Cộng sản </vt:lpstr>
      <vt:lpstr>2.2. GCCN VÀ THỰC HIỆN SỨ MỆNH LỊCH SỬ CỦA GCCN HIỆN NAY</vt:lpstr>
      <vt:lpstr>PowerPoint Presentation</vt:lpstr>
      <vt:lpstr>2.2.2. Thực hiện sứ mệnh lịch sử của GCCN trên thế giới hiện nay </vt:lpstr>
      <vt:lpstr> Sứ mệnh lịch sử của GCCN ngày nay so với TK XIX</vt:lpstr>
      <vt:lpstr>2.3.1. Đặc điểm của GCCN Việt Nam</vt:lpstr>
      <vt:lpstr>PowerPoint Presentation</vt:lpstr>
      <vt:lpstr>PowerPoint Presentation</vt:lpstr>
      <vt:lpstr>2.3.2. Sứ mệnh lịch sử của GCCN Việt Nam trong các thời kỳ cách mạng</vt:lpstr>
      <vt:lpstr>2.3.3. PHƯƠNG HƯỚNG VÀ MỘT SỐ GIẢI PHÁP CHỦ YẾU XÂY DỰNG GCCN VIỆT NAM HIỆN NAY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Toan Le</dc:creator>
  <cp:lastModifiedBy>Admin</cp:lastModifiedBy>
  <cp:revision>131</cp:revision>
  <dcterms:created xsi:type="dcterms:W3CDTF">2020-07-15T05:19:11Z</dcterms:created>
  <dcterms:modified xsi:type="dcterms:W3CDTF">2026-01-12T01:01:16Z</dcterms:modified>
</cp:coreProperties>
</file>